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oppins" charset="1" panose="00000500000000000000"/>
      <p:regular r:id="rId16"/>
    </p:embeddedFont>
    <p:embeddedFont>
      <p:font typeface="Poppins Bold" charset="1" panose="000008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Relationship Id="rId7" Target="../media/image6.jpeg" Type="http://schemas.openxmlformats.org/officeDocument/2006/relationships/image"/></Relationships>
</file>

<file path=ppt/slides/_rels/slide2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jpeg" Type="http://schemas.openxmlformats.org/officeDocument/2006/relationships/image"/></Relationships>
</file>

<file path=ppt/slides/_rels/slide3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jpeg" Type="http://schemas.openxmlformats.org/officeDocument/2006/relationships/image"/><Relationship Id="rId4" Target="../media/image13.jpe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jpe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4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jpe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11.png" Type="http://schemas.openxmlformats.org/officeDocument/2006/relationships/image"/><Relationship Id="rId7" Target="../media/image23.jpeg" Type="http://schemas.openxmlformats.org/officeDocument/2006/relationships/image"/></Relationships>
</file>

<file path=ppt/slides/_rels/slide5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24.jpe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5.jpeg" Type="http://schemas.openxmlformats.org/officeDocument/2006/relationships/image"/><Relationship Id="rId7" Target="../media/image26.png" Type="http://schemas.openxmlformats.org/officeDocument/2006/relationships/image"/></Relationships>
</file>

<file path=ppt/slides/_rels/slide6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5.jpeg" Type="http://schemas.openxmlformats.org/officeDocument/2006/relationships/image"/><Relationship Id="rId5" Target="../media/image29.png" Type="http://schemas.openxmlformats.org/officeDocument/2006/relationships/image"/><Relationship Id="rId6" Target="../media/image30.jpeg" Type="http://schemas.openxmlformats.org/officeDocument/2006/relationships/image"/><Relationship Id="rId7" Target="../media/image31.png" Type="http://schemas.openxmlformats.org/officeDocument/2006/relationships/image"/></Relationships>
</file>

<file path=ppt/slides/_rels/slide7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svg" Type="http://schemas.openxmlformats.org/officeDocument/2006/relationships/image"/><Relationship Id="rId4" Target="../media/image34.jpeg" Type="http://schemas.openxmlformats.org/officeDocument/2006/relationships/image"/><Relationship Id="rId5" Target="../media/image26.png" Type="http://schemas.openxmlformats.org/officeDocument/2006/relationships/image"/><Relationship Id="rId6" Target="../media/image35.jpe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8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36.jpeg" Type="http://schemas.openxmlformats.org/officeDocument/2006/relationships/image"/><Relationship Id="rId5" Target="../media/image37.png" Type="http://schemas.openxmlformats.org/officeDocument/2006/relationships/image"/><Relationship Id="rId6" Target="../media/image38.png" Type="http://schemas.openxmlformats.org/officeDocument/2006/relationships/image"/><Relationship Id="rId7" Target="../media/image39.jpeg" Type="http://schemas.openxmlformats.org/officeDocument/2006/relationships/image"/></Relationships>
</file>

<file path=ppt/slides/_rels/slide9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40.png" Type="http://schemas.openxmlformats.org/officeDocument/2006/relationships/image"/><Relationship Id="rId5" Target="../media/image41.jpeg" Type="http://schemas.openxmlformats.org/officeDocument/2006/relationships/image"/><Relationship Id="rId6" Target="../media/image19.png" Type="http://schemas.openxmlformats.org/officeDocument/2006/relationships/image"/><Relationship Id="rId7" Target="../media/image42.jpeg" Type="http://schemas.openxmlformats.org/officeDocument/2006/relationships/image"/></Relationships>
</file>

<file path=ppt/slides/_rels/slide10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43.jpeg" Type="http://schemas.openxmlformats.org/officeDocument/2006/relationships/image"/><Relationship Id="rId5" Target="../media/image37.png" Type="http://schemas.openxmlformats.org/officeDocument/2006/relationships/image"/><Relationship Id="rId6" Target="../media/image4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15057" y="2196068"/>
            <a:ext cx="7644243" cy="6435063"/>
          </a:xfrm>
          <a:custGeom>
            <a:avLst/>
            <a:gdLst/>
            <a:ahLst/>
            <a:cxnLst/>
            <a:rect r="r" b="b" t="t" l="l"/>
            <a:pathLst>
              <a:path h="6435063" w="7644243">
                <a:moveTo>
                  <a:pt x="0" y="0"/>
                </a:moveTo>
                <a:lnTo>
                  <a:pt x="7644243" y="0"/>
                </a:lnTo>
                <a:lnTo>
                  <a:pt x="7644243" y="6435063"/>
                </a:lnTo>
                <a:lnTo>
                  <a:pt x="0" y="64350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35441" y="1028700"/>
            <a:ext cx="4889754" cy="8229600"/>
          </a:xfrm>
          <a:custGeom>
            <a:avLst/>
            <a:gdLst/>
            <a:ahLst/>
            <a:cxnLst/>
            <a:rect r="r" b="b" t="t" l="l"/>
            <a:pathLst>
              <a:path h="8229600" w="4889754">
                <a:moveTo>
                  <a:pt x="0" y="0"/>
                </a:moveTo>
                <a:lnTo>
                  <a:pt x="4889754" y="0"/>
                </a:lnTo>
                <a:lnTo>
                  <a:pt x="488975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8700" y="6954817"/>
            <a:ext cx="2000155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6664026" y="6954817"/>
            <a:ext cx="200453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028700" y="8008964"/>
            <a:ext cx="1198802" cy="119880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1386867" y="8608365"/>
            <a:ext cx="482468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0" id="10"/>
          <p:cNvGrpSpPr/>
          <p:nvPr/>
        </p:nvGrpSpPr>
        <p:grpSpPr>
          <a:xfrm rot="0">
            <a:off x="6850970" y="8512379"/>
            <a:ext cx="191973" cy="191973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C83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446249" y="8539083"/>
            <a:ext cx="138565" cy="138565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C83F">
                <a:alpha val="49804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988120" y="8539083"/>
            <a:ext cx="138565" cy="138565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C83F">
                <a:alpha val="49804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529991" y="8539083"/>
            <a:ext cx="138565" cy="138565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C83F">
                <a:alpha val="49804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654494" y="8044888"/>
            <a:ext cx="1126955" cy="1126955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24931" t="0" r="-24931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3603564" y="7958430"/>
            <a:ext cx="1299870" cy="1299870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3690022" y="8044888"/>
            <a:ext cx="1126955" cy="1126955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24931" t="0" r="-24931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4639092" y="7958430"/>
            <a:ext cx="1299870" cy="1299870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725550" y="8044888"/>
            <a:ext cx="1126955" cy="1126955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-49863" t="0" r="0" b="0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028700" y="329175"/>
            <a:ext cx="3251587" cy="35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FRAD</a:t>
            </a: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AND SPIES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614715" y="419028"/>
            <a:ext cx="852815" cy="207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Product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014603" y="419028"/>
            <a:ext cx="613721" cy="207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547973" y="419028"/>
            <a:ext cx="644279" cy="207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5059669" y="419028"/>
            <a:ext cx="791672" cy="207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Service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11442" y="1192364"/>
            <a:ext cx="10075800" cy="5913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9"/>
              </a:lnSpc>
            </a:pPr>
            <a:r>
              <a:rPr lang="en-US" sz="6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Clasificacion de Enfermedades en el Fruto de Agua</a:t>
            </a:r>
            <a:r>
              <a:rPr lang="en-US" sz="6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cate mediante Redes Neuronales Convolucionales</a:t>
            </a:r>
          </a:p>
          <a:p>
            <a:pPr algn="l">
              <a:lnSpc>
                <a:spcPts val="4211"/>
              </a:lnSpc>
            </a:pPr>
          </a:p>
        </p:txBody>
      </p:sp>
      <p:sp>
        <p:nvSpPr>
          <p:cNvPr name="TextBox 40" id="40"/>
          <p:cNvSpPr txBox="true"/>
          <p:nvPr/>
        </p:nvSpPr>
        <p:spPr>
          <a:xfrm rot="0">
            <a:off x="3305043" y="6746817"/>
            <a:ext cx="3082794" cy="35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spc="6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GET STARTED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0957" y="1028700"/>
            <a:ext cx="5194660" cy="5866659"/>
          </a:xfrm>
          <a:custGeom>
            <a:avLst/>
            <a:gdLst/>
            <a:ahLst/>
            <a:cxnLst/>
            <a:rect r="r" b="b" t="t" l="l"/>
            <a:pathLst>
              <a:path h="5866659" w="5194660">
                <a:moveTo>
                  <a:pt x="0" y="0"/>
                </a:moveTo>
                <a:lnTo>
                  <a:pt x="5194660" y="0"/>
                </a:lnTo>
                <a:lnTo>
                  <a:pt x="5194660" y="5866659"/>
                </a:lnTo>
                <a:lnTo>
                  <a:pt x="0" y="58666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648351" y="1639808"/>
            <a:ext cx="6885958" cy="6853779"/>
            <a:chOff x="0" y="0"/>
            <a:chExt cx="4565904" cy="45445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65904" cy="4544567"/>
            </a:xfrm>
            <a:custGeom>
              <a:avLst/>
              <a:gdLst/>
              <a:ahLst/>
              <a:cxnLst/>
              <a:rect r="r" b="b" t="t" l="l"/>
              <a:pathLst>
                <a:path h="4544567" w="4565904">
                  <a:moveTo>
                    <a:pt x="4565904" y="4544567"/>
                  </a:moveTo>
                  <a:lnTo>
                    <a:pt x="0" y="4544567"/>
                  </a:lnTo>
                  <a:lnTo>
                    <a:pt x="0" y="0"/>
                  </a:lnTo>
                  <a:lnTo>
                    <a:pt x="4565904" y="0"/>
                  </a:lnTo>
                  <a:lnTo>
                    <a:pt x="4565904" y="4544567"/>
                  </a:lnTo>
                  <a:close/>
                </a:path>
              </a:pathLst>
            </a:custGeom>
            <a:blipFill>
              <a:blip r:embed="rId4"/>
              <a:stretch>
                <a:fillRect l="-16" t="0" r="-16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84778" y="54718"/>
              <a:ext cx="4402446" cy="4379610"/>
            </a:xfrm>
            <a:custGeom>
              <a:avLst/>
              <a:gdLst/>
              <a:ahLst/>
              <a:cxnLst/>
              <a:rect r="r" b="b" t="t" l="l"/>
              <a:pathLst>
                <a:path h="4379610" w="4402446">
                  <a:moveTo>
                    <a:pt x="3621567" y="3285768"/>
                  </a:moveTo>
                  <a:cubicBezTo>
                    <a:pt x="3750373" y="3403271"/>
                    <a:pt x="3865180" y="3577143"/>
                    <a:pt x="3814269" y="3758993"/>
                  </a:cubicBezTo>
                  <a:cubicBezTo>
                    <a:pt x="3767532" y="3925937"/>
                    <a:pt x="3602971" y="4071431"/>
                    <a:pt x="3461583" y="4158793"/>
                  </a:cubicBezTo>
                  <a:cubicBezTo>
                    <a:pt x="3238455" y="4296661"/>
                    <a:pt x="2716493" y="4520597"/>
                    <a:pt x="2501880" y="4257915"/>
                  </a:cubicBezTo>
                  <a:cubicBezTo>
                    <a:pt x="2335159" y="4053851"/>
                    <a:pt x="2378962" y="3695932"/>
                    <a:pt x="2502612" y="3482346"/>
                  </a:cubicBezTo>
                  <a:cubicBezTo>
                    <a:pt x="2701528" y="3138752"/>
                    <a:pt x="3162966" y="3001809"/>
                    <a:pt x="3511411" y="3204907"/>
                  </a:cubicBezTo>
                  <a:cubicBezTo>
                    <a:pt x="3550425" y="3227648"/>
                    <a:pt x="3587375" y="3254577"/>
                    <a:pt x="3621567" y="3285768"/>
                  </a:cubicBezTo>
                  <a:close/>
                  <a:moveTo>
                    <a:pt x="1946855" y="3661835"/>
                  </a:moveTo>
                  <a:cubicBezTo>
                    <a:pt x="1964545" y="3605040"/>
                    <a:pt x="1981374" y="3548499"/>
                    <a:pt x="1999217" y="3494160"/>
                  </a:cubicBezTo>
                  <a:cubicBezTo>
                    <a:pt x="2109731" y="3157617"/>
                    <a:pt x="2421954" y="2885229"/>
                    <a:pt x="2760026" y="2792478"/>
                  </a:cubicBezTo>
                  <a:cubicBezTo>
                    <a:pt x="3159859" y="2682782"/>
                    <a:pt x="3620641" y="2788392"/>
                    <a:pt x="3972639" y="2569304"/>
                  </a:cubicBezTo>
                  <a:cubicBezTo>
                    <a:pt x="4232640" y="2407475"/>
                    <a:pt x="4369981" y="2096519"/>
                    <a:pt x="4397038" y="1791457"/>
                  </a:cubicBezTo>
                  <a:cubicBezTo>
                    <a:pt x="4459879" y="1082942"/>
                    <a:pt x="3967617" y="387073"/>
                    <a:pt x="3304991" y="128544"/>
                  </a:cubicBezTo>
                  <a:cubicBezTo>
                    <a:pt x="2642365" y="-129983"/>
                    <a:pt x="1860124" y="17582"/>
                    <a:pt x="1278352" y="426797"/>
                  </a:cubicBezTo>
                  <a:cubicBezTo>
                    <a:pt x="696579" y="836014"/>
                    <a:pt x="305521" y="1479777"/>
                    <a:pt x="112262" y="2164315"/>
                  </a:cubicBezTo>
                  <a:cubicBezTo>
                    <a:pt x="4597" y="2545674"/>
                    <a:pt x="-45592" y="2953930"/>
                    <a:pt x="52852" y="3337773"/>
                  </a:cubicBezTo>
                  <a:cubicBezTo>
                    <a:pt x="151295" y="3721612"/>
                    <a:pt x="418063" y="4076918"/>
                    <a:pt x="792513" y="4206533"/>
                  </a:cubicBezTo>
                  <a:cubicBezTo>
                    <a:pt x="1019025" y="4284939"/>
                    <a:pt x="1282700" y="4343658"/>
                    <a:pt x="1515474" y="4256815"/>
                  </a:cubicBezTo>
                  <a:cubicBezTo>
                    <a:pt x="1777314" y="4159127"/>
                    <a:pt x="1870167" y="3908064"/>
                    <a:pt x="1946855" y="3661835"/>
                  </a:cubicBezTo>
                  <a:close/>
                </a:path>
              </a:pathLst>
            </a:custGeom>
            <a:blipFill>
              <a:blip r:embed="rId5"/>
              <a:stretch>
                <a:fillRect l="-24543" t="0" r="-2454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215293" y="2053287"/>
            <a:ext cx="8252238" cy="6440301"/>
            <a:chOff x="0" y="0"/>
            <a:chExt cx="2173429" cy="16962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73429" cy="1696211"/>
            </a:xfrm>
            <a:custGeom>
              <a:avLst/>
              <a:gdLst/>
              <a:ahLst/>
              <a:cxnLst/>
              <a:rect r="r" b="b" t="t" l="l"/>
              <a:pathLst>
                <a:path h="1696211" w="2173429">
                  <a:moveTo>
                    <a:pt x="37526" y="0"/>
                  </a:moveTo>
                  <a:lnTo>
                    <a:pt x="2135902" y="0"/>
                  </a:lnTo>
                  <a:cubicBezTo>
                    <a:pt x="2156628" y="0"/>
                    <a:pt x="2173429" y="16801"/>
                    <a:pt x="2173429" y="37526"/>
                  </a:cubicBezTo>
                  <a:lnTo>
                    <a:pt x="2173429" y="1658685"/>
                  </a:lnTo>
                  <a:cubicBezTo>
                    <a:pt x="2173429" y="1679410"/>
                    <a:pt x="2156628" y="1696211"/>
                    <a:pt x="2135902" y="1696211"/>
                  </a:cubicBezTo>
                  <a:lnTo>
                    <a:pt x="37526" y="1696211"/>
                  </a:lnTo>
                  <a:cubicBezTo>
                    <a:pt x="16801" y="1696211"/>
                    <a:pt x="0" y="1679410"/>
                    <a:pt x="0" y="1658685"/>
                  </a:cubicBezTo>
                  <a:lnTo>
                    <a:pt x="0" y="37526"/>
                  </a:lnTo>
                  <a:cubicBezTo>
                    <a:pt x="0" y="16801"/>
                    <a:pt x="16801" y="0"/>
                    <a:pt x="37526" y="0"/>
                  </a:cubicBezTo>
                  <a:close/>
                </a:path>
              </a:pathLst>
            </a:custGeom>
            <a:solidFill>
              <a:srgbClr val="82A37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173429" cy="17533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454780" y="2499122"/>
            <a:ext cx="7773264" cy="5462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Tancíta</a:t>
            </a: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ro, Michoacán es considerado la capital mundial del aguacate y gran parte de la economía depende de esta producción.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 xml:space="preserve"> Sin embargo, existen enfermedades como la antracnosis y la roña que generan pérdidas económicas muy grandes.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 xml:space="preserve"> Actualmente la revisión se hace manualmente, fruto por fruto, lo cual consume tiempo y puede generar errores humanos.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329175"/>
            <a:ext cx="3251587" cy="35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FRAD</a:t>
            </a: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AND SPIES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614715" y="419028"/>
            <a:ext cx="852815" cy="207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Product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14603" y="419028"/>
            <a:ext cx="613721" cy="207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547973" y="419028"/>
            <a:ext cx="644279" cy="207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059669" y="419028"/>
            <a:ext cx="791672" cy="207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Service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291153" y="1313482"/>
            <a:ext cx="4513642" cy="98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CONTEXTO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6621782" y="1653250"/>
            <a:ext cx="5119960" cy="3662950"/>
            <a:chOff x="0" y="0"/>
            <a:chExt cx="4584192" cy="32796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84192" cy="3279648"/>
            </a:xfrm>
            <a:custGeom>
              <a:avLst/>
              <a:gdLst/>
              <a:ahLst/>
              <a:cxnLst/>
              <a:rect r="r" b="b" t="t" l="l"/>
              <a:pathLst>
                <a:path h="3279648" w="4584192">
                  <a:moveTo>
                    <a:pt x="4584192" y="3279648"/>
                  </a:moveTo>
                  <a:lnTo>
                    <a:pt x="0" y="3279648"/>
                  </a:lnTo>
                  <a:lnTo>
                    <a:pt x="0" y="0"/>
                  </a:lnTo>
                  <a:lnTo>
                    <a:pt x="4584192" y="0"/>
                  </a:lnTo>
                  <a:lnTo>
                    <a:pt x="4584192" y="3279648"/>
                  </a:lnTo>
                  <a:close/>
                </a:path>
              </a:pathLst>
            </a:custGeom>
            <a:blipFill>
              <a:blip r:embed="rId2"/>
              <a:stretch>
                <a:fillRect l="-29" t="0" r="-29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86981" y="54264"/>
              <a:ext cx="4416333" cy="3114276"/>
            </a:xfrm>
            <a:custGeom>
              <a:avLst/>
              <a:gdLst/>
              <a:ahLst/>
              <a:cxnLst/>
              <a:rect r="r" b="b" t="t" l="l"/>
              <a:pathLst>
                <a:path h="3114276" w="4416333">
                  <a:moveTo>
                    <a:pt x="1660721" y="160428"/>
                  </a:moveTo>
                  <a:cubicBezTo>
                    <a:pt x="1607585" y="182322"/>
                    <a:pt x="1555237" y="205918"/>
                    <a:pt x="1503817" y="230866"/>
                  </a:cubicBezTo>
                  <a:cubicBezTo>
                    <a:pt x="1331652" y="314401"/>
                    <a:pt x="1161945" y="372973"/>
                    <a:pt x="967616" y="352385"/>
                  </a:cubicBezTo>
                  <a:cubicBezTo>
                    <a:pt x="716284" y="325758"/>
                    <a:pt x="425732" y="298863"/>
                    <a:pt x="246969" y="477536"/>
                  </a:cubicBezTo>
                  <a:cubicBezTo>
                    <a:pt x="115853" y="608587"/>
                    <a:pt x="90724" y="812907"/>
                    <a:pt x="109069" y="997382"/>
                  </a:cubicBezTo>
                  <a:cubicBezTo>
                    <a:pt x="127413" y="1181858"/>
                    <a:pt x="181487" y="1363010"/>
                    <a:pt x="179567" y="1548386"/>
                  </a:cubicBezTo>
                  <a:cubicBezTo>
                    <a:pt x="177121" y="1784605"/>
                    <a:pt x="84384" y="2009209"/>
                    <a:pt x="32442" y="2239660"/>
                  </a:cubicBezTo>
                  <a:cubicBezTo>
                    <a:pt x="-19501" y="2470110"/>
                    <a:pt x="-23001" y="2734683"/>
                    <a:pt x="127409" y="2916836"/>
                  </a:cubicBezTo>
                  <a:cubicBezTo>
                    <a:pt x="327029" y="3158587"/>
                    <a:pt x="704374" y="3148484"/>
                    <a:pt x="1000316" y="3045021"/>
                  </a:cubicBezTo>
                  <a:cubicBezTo>
                    <a:pt x="1296259" y="2941557"/>
                    <a:pt x="1573861" y="2765925"/>
                    <a:pt x="1886476" y="2742313"/>
                  </a:cubicBezTo>
                  <a:cubicBezTo>
                    <a:pt x="2366120" y="2706084"/>
                    <a:pt x="2810276" y="3035185"/>
                    <a:pt x="3291270" y="3031046"/>
                  </a:cubicBezTo>
                  <a:cubicBezTo>
                    <a:pt x="3899470" y="3025814"/>
                    <a:pt x="4404848" y="2433888"/>
                    <a:pt x="4416105" y="1825740"/>
                  </a:cubicBezTo>
                  <a:cubicBezTo>
                    <a:pt x="4427361" y="1217592"/>
                    <a:pt x="4020929" y="651254"/>
                    <a:pt x="3487130" y="359705"/>
                  </a:cubicBezTo>
                  <a:cubicBezTo>
                    <a:pt x="3207876" y="207183"/>
                    <a:pt x="2919565" y="58358"/>
                    <a:pt x="2600517" y="13759"/>
                  </a:cubicBezTo>
                  <a:cubicBezTo>
                    <a:pt x="2279292" y="-31145"/>
                    <a:pt x="1957718" y="38055"/>
                    <a:pt x="1660721" y="160428"/>
                  </a:cubicBezTo>
                  <a:close/>
                </a:path>
              </a:pathLst>
            </a:custGeom>
            <a:blipFill>
              <a:blip r:embed="rId3"/>
              <a:stretch>
                <a:fillRect l="0" t="-3178" r="0" b="-3178"/>
              </a:stretch>
            </a:blip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2809970" y="2201242"/>
            <a:ext cx="4449330" cy="6045286"/>
            <a:chOff x="0" y="0"/>
            <a:chExt cx="3364992" cy="4572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106" y="-6"/>
              <a:ext cx="3361350" cy="4572009"/>
            </a:xfrm>
            <a:custGeom>
              <a:avLst/>
              <a:gdLst/>
              <a:ahLst/>
              <a:cxnLst/>
              <a:rect r="r" b="b" t="t" l="l"/>
              <a:pathLst>
                <a:path h="4572009" w="3361350">
                  <a:moveTo>
                    <a:pt x="3137507" y="351917"/>
                  </a:moveTo>
                  <a:cubicBezTo>
                    <a:pt x="3133204" y="346213"/>
                    <a:pt x="3128834" y="340541"/>
                    <a:pt x="3124395" y="334903"/>
                  </a:cubicBezTo>
                  <a:cubicBezTo>
                    <a:pt x="3065856" y="260510"/>
                    <a:pt x="2997668" y="195446"/>
                    <a:pt x="2919739" y="141576"/>
                  </a:cubicBezTo>
                  <a:cubicBezTo>
                    <a:pt x="2806524" y="63314"/>
                    <a:pt x="2670658" y="16035"/>
                    <a:pt x="2533897" y="3414"/>
                  </a:cubicBezTo>
                  <a:cubicBezTo>
                    <a:pt x="2294865" y="-18648"/>
                    <a:pt x="2047933" y="67204"/>
                    <a:pt x="1874137" y="232793"/>
                  </a:cubicBezTo>
                  <a:cubicBezTo>
                    <a:pt x="1707026" y="392014"/>
                    <a:pt x="1606039" y="618483"/>
                    <a:pt x="1414062" y="746631"/>
                  </a:cubicBezTo>
                  <a:cubicBezTo>
                    <a:pt x="1067370" y="978057"/>
                    <a:pt x="546657" y="811779"/>
                    <a:pt x="226682" y="1078931"/>
                  </a:cubicBezTo>
                  <a:cubicBezTo>
                    <a:pt x="47084" y="1228881"/>
                    <a:pt x="-16536" y="1482873"/>
                    <a:pt x="3566" y="1715979"/>
                  </a:cubicBezTo>
                  <a:cubicBezTo>
                    <a:pt x="23669" y="1949085"/>
                    <a:pt x="115029" y="2169110"/>
                    <a:pt x="198755" y="2387587"/>
                  </a:cubicBezTo>
                  <a:cubicBezTo>
                    <a:pt x="282481" y="2606063"/>
                    <a:pt x="360648" y="2833606"/>
                    <a:pt x="352392" y="3067431"/>
                  </a:cubicBezTo>
                  <a:cubicBezTo>
                    <a:pt x="346364" y="3238106"/>
                    <a:pt x="294461" y="3403472"/>
                    <a:pt x="267463" y="3572106"/>
                  </a:cubicBezTo>
                  <a:cubicBezTo>
                    <a:pt x="240464" y="3740739"/>
                    <a:pt x="241276" y="3924135"/>
                    <a:pt x="331106" y="4069379"/>
                  </a:cubicBezTo>
                  <a:cubicBezTo>
                    <a:pt x="423615" y="4218955"/>
                    <a:pt x="592493" y="4300966"/>
                    <a:pt x="754888" y="4368473"/>
                  </a:cubicBezTo>
                  <a:cubicBezTo>
                    <a:pt x="1036707" y="4485624"/>
                    <a:pt x="1335241" y="4584122"/>
                    <a:pt x="1640149" y="4570798"/>
                  </a:cubicBezTo>
                  <a:cubicBezTo>
                    <a:pt x="1945055" y="4557475"/>
                    <a:pt x="2259325" y="4412867"/>
                    <a:pt x="2404822" y="4144575"/>
                  </a:cubicBezTo>
                  <a:cubicBezTo>
                    <a:pt x="2638517" y="3713646"/>
                    <a:pt x="2371673" y="3153636"/>
                    <a:pt x="2555120" y="2699035"/>
                  </a:cubicBezTo>
                  <a:cubicBezTo>
                    <a:pt x="2648684" y="2467175"/>
                    <a:pt x="2846372" y="2296603"/>
                    <a:pt x="2999394" y="2098874"/>
                  </a:cubicBezTo>
                  <a:cubicBezTo>
                    <a:pt x="3366551" y="1624449"/>
                    <a:pt x="3523325" y="863282"/>
                    <a:pt x="3137507" y="351917"/>
                  </a:cubicBezTo>
                  <a:close/>
                </a:path>
              </a:pathLst>
            </a:custGeom>
            <a:blipFill>
              <a:blip r:embed="rId4"/>
              <a:stretch>
                <a:fillRect l="0" t="-5090" r="0" b="-509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106" y="-6"/>
              <a:ext cx="3362886" cy="4572006"/>
            </a:xfrm>
            <a:custGeom>
              <a:avLst/>
              <a:gdLst/>
              <a:ahLst/>
              <a:cxnLst/>
              <a:rect r="r" b="b" t="t" l="l"/>
              <a:pathLst>
                <a:path h="4572006" w="3362886">
                  <a:moveTo>
                    <a:pt x="3362886" y="4572006"/>
                  </a:moveTo>
                  <a:lnTo>
                    <a:pt x="0" y="4572006"/>
                  </a:lnTo>
                  <a:lnTo>
                    <a:pt x="0" y="0"/>
                  </a:lnTo>
                  <a:lnTo>
                    <a:pt x="3362886" y="0"/>
                  </a:lnTo>
                  <a:lnTo>
                    <a:pt x="3362886" y="4572006"/>
                  </a:lnTo>
                  <a:close/>
                </a:path>
              </a:pathLst>
            </a:custGeom>
            <a:blipFill>
              <a:blip r:embed="rId5"/>
              <a:stretch>
                <a:fillRect l="-48" t="0" r="-48" b="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8488852" y="5395217"/>
            <a:ext cx="4321117" cy="3483205"/>
            <a:chOff x="0" y="0"/>
            <a:chExt cx="4605527" cy="37124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05527" cy="3712464"/>
            </a:xfrm>
            <a:custGeom>
              <a:avLst/>
              <a:gdLst/>
              <a:ahLst/>
              <a:cxnLst/>
              <a:rect r="r" b="b" t="t" l="l"/>
              <a:pathLst>
                <a:path h="3712464" w="4605527">
                  <a:moveTo>
                    <a:pt x="4605527" y="3712464"/>
                  </a:moveTo>
                  <a:lnTo>
                    <a:pt x="0" y="3712464"/>
                  </a:lnTo>
                  <a:lnTo>
                    <a:pt x="0" y="0"/>
                  </a:lnTo>
                  <a:lnTo>
                    <a:pt x="4605527" y="0"/>
                  </a:lnTo>
                  <a:lnTo>
                    <a:pt x="4605527" y="3712464"/>
                  </a:lnTo>
                  <a:close/>
                </a:path>
              </a:pathLst>
            </a:custGeom>
            <a:blipFill>
              <a:blip r:embed="rId6"/>
              <a:stretch>
                <a:fillRect l="-67" t="0" r="-67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87223" y="56419"/>
              <a:ext cx="4439784" cy="3544963"/>
            </a:xfrm>
            <a:custGeom>
              <a:avLst/>
              <a:gdLst/>
              <a:ahLst/>
              <a:cxnLst/>
              <a:rect r="r" b="b" t="t" l="l"/>
              <a:pathLst>
                <a:path h="3544963" w="4439784">
                  <a:moveTo>
                    <a:pt x="2598904" y="3537741"/>
                  </a:moveTo>
                  <a:cubicBezTo>
                    <a:pt x="2198138" y="3570305"/>
                    <a:pt x="1796245" y="3488733"/>
                    <a:pt x="1410931" y="3373809"/>
                  </a:cubicBezTo>
                  <a:cubicBezTo>
                    <a:pt x="1119438" y="3286869"/>
                    <a:pt x="827613" y="3177192"/>
                    <a:pt x="592791" y="2983834"/>
                  </a:cubicBezTo>
                  <a:cubicBezTo>
                    <a:pt x="258061" y="2708211"/>
                    <a:pt x="70414" y="2282556"/>
                    <a:pt x="16437" y="1852320"/>
                  </a:cubicBezTo>
                  <a:cubicBezTo>
                    <a:pt x="-42482" y="1382703"/>
                    <a:pt x="54569" y="881517"/>
                    <a:pt x="346881" y="509277"/>
                  </a:cubicBezTo>
                  <a:cubicBezTo>
                    <a:pt x="639192" y="137036"/>
                    <a:pt x="1141699" y="-80803"/>
                    <a:pt x="1602299" y="28061"/>
                  </a:cubicBezTo>
                  <a:cubicBezTo>
                    <a:pt x="1919216" y="102966"/>
                    <a:pt x="2185109" y="315609"/>
                    <a:pt x="2417440" y="543796"/>
                  </a:cubicBezTo>
                  <a:cubicBezTo>
                    <a:pt x="2649773" y="771986"/>
                    <a:pt x="2862968" y="1023758"/>
                    <a:pt x="3130646" y="1209220"/>
                  </a:cubicBezTo>
                  <a:cubicBezTo>
                    <a:pt x="3350568" y="1361593"/>
                    <a:pt x="3600537" y="1464379"/>
                    <a:pt x="3831642" y="1599187"/>
                  </a:cubicBezTo>
                  <a:cubicBezTo>
                    <a:pt x="4062750" y="1733995"/>
                    <a:pt x="4283249" y="1911537"/>
                    <a:pt x="4389624" y="2157036"/>
                  </a:cubicBezTo>
                  <a:cubicBezTo>
                    <a:pt x="4484465" y="2375919"/>
                    <a:pt x="4436724" y="2585377"/>
                    <a:pt x="4314173" y="2778922"/>
                  </a:cubicBezTo>
                  <a:cubicBezTo>
                    <a:pt x="4290768" y="2815885"/>
                    <a:pt x="4265673" y="2851052"/>
                    <a:pt x="4239038" y="2884514"/>
                  </a:cubicBezTo>
                  <a:cubicBezTo>
                    <a:pt x="3860521" y="3360056"/>
                    <a:pt x="3170880" y="3491265"/>
                    <a:pt x="2598904" y="3537741"/>
                  </a:cubicBezTo>
                  <a:close/>
                  <a:moveTo>
                    <a:pt x="4180927" y="1106976"/>
                  </a:moveTo>
                  <a:cubicBezTo>
                    <a:pt x="4248907" y="1080507"/>
                    <a:pt x="4313003" y="1027338"/>
                    <a:pt x="4319730" y="950370"/>
                  </a:cubicBezTo>
                  <a:cubicBezTo>
                    <a:pt x="4323514" y="907078"/>
                    <a:pt x="4312522" y="863954"/>
                    <a:pt x="4300322" y="822246"/>
                  </a:cubicBezTo>
                  <a:cubicBezTo>
                    <a:pt x="4204743" y="495489"/>
                    <a:pt x="3972919" y="-60230"/>
                    <a:pt x="3542809" y="5320"/>
                  </a:cubicBezTo>
                  <a:cubicBezTo>
                    <a:pt x="3434541" y="21821"/>
                    <a:pt x="3333575" y="70251"/>
                    <a:pt x="3240117" y="127346"/>
                  </a:cubicBezTo>
                  <a:cubicBezTo>
                    <a:pt x="3130150" y="194527"/>
                    <a:pt x="3019870" y="287869"/>
                    <a:pt x="3002277" y="415528"/>
                  </a:cubicBezTo>
                  <a:cubicBezTo>
                    <a:pt x="2985375" y="538161"/>
                    <a:pt x="3059756" y="654652"/>
                    <a:pt x="3143822" y="745521"/>
                  </a:cubicBezTo>
                  <a:cubicBezTo>
                    <a:pt x="3289919" y="903443"/>
                    <a:pt x="3487926" y="1011162"/>
                    <a:pt x="3695450" y="1063927"/>
                  </a:cubicBezTo>
                  <a:cubicBezTo>
                    <a:pt x="3816432" y="1094687"/>
                    <a:pt x="3950269" y="1132291"/>
                    <a:pt x="4075611" y="1128467"/>
                  </a:cubicBezTo>
                  <a:cubicBezTo>
                    <a:pt x="4110870" y="1127390"/>
                    <a:pt x="4147272" y="1120077"/>
                    <a:pt x="4180927" y="1106976"/>
                  </a:cubicBezTo>
                  <a:close/>
                </a:path>
              </a:pathLst>
            </a:custGeom>
            <a:blipFill>
              <a:blip r:embed="rId7"/>
              <a:stretch>
                <a:fillRect l="0" t="-43990" r="0" b="-43990"/>
              </a:stretch>
            </a:blipFill>
          </p:spPr>
        </p:sp>
      </p:grpSp>
      <p:sp>
        <p:nvSpPr>
          <p:cNvPr name="AutoShape 11" id="11"/>
          <p:cNvSpPr/>
          <p:nvPr/>
        </p:nvSpPr>
        <p:spPr>
          <a:xfrm>
            <a:off x="1028700" y="5715726"/>
            <a:ext cx="5069156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-1009081">
            <a:off x="12973860" y="6878112"/>
            <a:ext cx="7509737" cy="4760377"/>
          </a:xfrm>
          <a:custGeom>
            <a:avLst/>
            <a:gdLst/>
            <a:ahLst/>
            <a:cxnLst/>
            <a:rect r="r" b="b" t="t" l="l"/>
            <a:pathLst>
              <a:path h="4760377" w="7509737">
                <a:moveTo>
                  <a:pt x="0" y="0"/>
                </a:moveTo>
                <a:lnTo>
                  <a:pt x="7509738" y="0"/>
                </a:lnTo>
                <a:lnTo>
                  <a:pt x="7509738" y="4760376"/>
                </a:lnTo>
                <a:lnTo>
                  <a:pt x="0" y="47603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329175"/>
            <a:ext cx="3251587" cy="35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FRAD</a:t>
            </a: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AND SPIES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614715" y="419028"/>
            <a:ext cx="852815" cy="207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Product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14603" y="419028"/>
            <a:ext cx="613721" cy="207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547973" y="419028"/>
            <a:ext cx="644279" cy="207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059669" y="419028"/>
            <a:ext cx="791672" cy="207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Service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6643144"/>
            <a:ext cx="6627392" cy="189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PLANTEAMIENTO DEL PROBLEMA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1879221"/>
            <a:ext cx="5069156" cy="3515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pr</a:t>
            </a: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oblema principal es que las enfermedades del aguacate son difíciles de detectar en etapas tempranas.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 xml:space="preserve"> La inspección manual no siempre identifica correctamente frutos enfermos.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 xml:space="preserve"> Esto provoca pérdidas económicas y contaminación de otros frutos.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6544898" y="0"/>
            <a:ext cx="5450394" cy="5246370"/>
            <a:chOff x="0" y="0"/>
            <a:chExt cx="4559807" cy="4389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59807" cy="4389120"/>
            </a:xfrm>
            <a:custGeom>
              <a:avLst/>
              <a:gdLst/>
              <a:ahLst/>
              <a:cxnLst/>
              <a:rect r="r" b="b" t="t" l="l"/>
              <a:pathLst>
                <a:path h="4389120" w="4559807">
                  <a:moveTo>
                    <a:pt x="4559807" y="4389120"/>
                  </a:moveTo>
                  <a:lnTo>
                    <a:pt x="0" y="4389120"/>
                  </a:lnTo>
                  <a:lnTo>
                    <a:pt x="0" y="0"/>
                  </a:lnTo>
                  <a:lnTo>
                    <a:pt x="4559807" y="0"/>
                  </a:lnTo>
                  <a:lnTo>
                    <a:pt x="4559807" y="4389120"/>
                  </a:lnTo>
                  <a:close/>
                </a:path>
              </a:pathLst>
            </a:custGeom>
            <a:blipFill>
              <a:blip r:embed="rId2"/>
              <a:stretch>
                <a:fillRect l="-3" t="0" r="-3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87088" y="56419"/>
              <a:ext cx="4391744" cy="4222170"/>
            </a:xfrm>
            <a:custGeom>
              <a:avLst/>
              <a:gdLst/>
              <a:ahLst/>
              <a:cxnLst/>
              <a:rect r="r" b="b" t="t" l="l"/>
              <a:pathLst>
                <a:path h="4222170" w="4391744">
                  <a:moveTo>
                    <a:pt x="2923232" y="3987550"/>
                  </a:moveTo>
                  <a:cubicBezTo>
                    <a:pt x="3145283" y="4114241"/>
                    <a:pt x="3363141" y="4250674"/>
                    <a:pt x="3634023" y="4216974"/>
                  </a:cubicBezTo>
                  <a:cubicBezTo>
                    <a:pt x="3888511" y="4185310"/>
                    <a:pt x="4125043" y="4031628"/>
                    <a:pt x="4257386" y="3811957"/>
                  </a:cubicBezTo>
                  <a:cubicBezTo>
                    <a:pt x="4450350" y="3491661"/>
                    <a:pt x="4411818" y="3080130"/>
                    <a:pt x="4289972" y="2726606"/>
                  </a:cubicBezTo>
                  <a:cubicBezTo>
                    <a:pt x="4168126" y="2373081"/>
                    <a:pt x="3971509" y="2048541"/>
                    <a:pt x="3855317" y="1693118"/>
                  </a:cubicBezTo>
                  <a:cubicBezTo>
                    <a:pt x="3720100" y="1279497"/>
                    <a:pt x="3690174" y="817859"/>
                    <a:pt x="3434825" y="465498"/>
                  </a:cubicBezTo>
                  <a:cubicBezTo>
                    <a:pt x="3228571" y="180881"/>
                    <a:pt x="2882759" y="2733"/>
                    <a:pt x="2531285" y="31"/>
                  </a:cubicBezTo>
                  <a:cubicBezTo>
                    <a:pt x="2179812" y="-2671"/>
                    <a:pt x="1831301" y="170140"/>
                    <a:pt x="1620696" y="451552"/>
                  </a:cubicBezTo>
                  <a:cubicBezTo>
                    <a:pt x="1322745" y="849675"/>
                    <a:pt x="1311969" y="1406280"/>
                    <a:pt x="1022002" y="1810255"/>
                  </a:cubicBezTo>
                  <a:cubicBezTo>
                    <a:pt x="738144" y="2205719"/>
                    <a:pt x="211870" y="2419245"/>
                    <a:pt x="44294" y="2876290"/>
                  </a:cubicBezTo>
                  <a:cubicBezTo>
                    <a:pt x="-102338" y="3276207"/>
                    <a:pt x="129292" y="3773553"/>
                    <a:pt x="529755" y="3918649"/>
                  </a:cubicBezTo>
                  <a:cubicBezTo>
                    <a:pt x="883513" y="4046824"/>
                    <a:pt x="1271607" y="3918282"/>
                    <a:pt x="1634500" y="3818863"/>
                  </a:cubicBezTo>
                  <a:cubicBezTo>
                    <a:pt x="1864205" y="3755932"/>
                    <a:pt x="2114367" y="3750384"/>
                    <a:pt x="2349843" y="3777473"/>
                  </a:cubicBezTo>
                  <a:cubicBezTo>
                    <a:pt x="2512623" y="3796200"/>
                    <a:pt x="2669828" y="3851000"/>
                    <a:pt x="2814254" y="3927253"/>
                  </a:cubicBezTo>
                  <a:cubicBezTo>
                    <a:pt x="2850855" y="3946578"/>
                    <a:pt x="2887099" y="3966935"/>
                    <a:pt x="2923232" y="3987550"/>
                  </a:cubicBezTo>
                  <a:close/>
                </a:path>
              </a:pathLst>
            </a:custGeom>
            <a:blipFill>
              <a:blip r:embed="rId3"/>
              <a:stretch>
                <a:fillRect l="-17892" t="0" r="-26315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4609923" y="-1451693"/>
            <a:ext cx="5952251" cy="6315386"/>
          </a:xfrm>
          <a:custGeom>
            <a:avLst/>
            <a:gdLst/>
            <a:ahLst/>
            <a:cxnLst/>
            <a:rect r="r" b="b" t="t" l="l"/>
            <a:pathLst>
              <a:path h="6315386" w="5952251">
                <a:moveTo>
                  <a:pt x="0" y="0"/>
                </a:moveTo>
                <a:lnTo>
                  <a:pt x="5952252" y="0"/>
                </a:lnTo>
                <a:lnTo>
                  <a:pt x="5952252" y="6315386"/>
                </a:lnTo>
                <a:lnTo>
                  <a:pt x="0" y="63153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2166598" y="1440106"/>
            <a:ext cx="5104279" cy="3651732"/>
            <a:chOff x="0" y="0"/>
            <a:chExt cx="4584192" cy="327964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84192" cy="3279648"/>
            </a:xfrm>
            <a:custGeom>
              <a:avLst/>
              <a:gdLst/>
              <a:ahLst/>
              <a:cxnLst/>
              <a:rect r="r" b="b" t="t" l="l"/>
              <a:pathLst>
                <a:path h="3279648" w="4584192">
                  <a:moveTo>
                    <a:pt x="4584192" y="3279648"/>
                  </a:moveTo>
                  <a:lnTo>
                    <a:pt x="0" y="3279648"/>
                  </a:lnTo>
                  <a:lnTo>
                    <a:pt x="0" y="0"/>
                  </a:lnTo>
                  <a:lnTo>
                    <a:pt x="4584192" y="0"/>
                  </a:lnTo>
                  <a:lnTo>
                    <a:pt x="4584192" y="3279648"/>
                  </a:lnTo>
                  <a:close/>
                </a:path>
              </a:pathLst>
            </a:custGeom>
            <a:blipFill>
              <a:blip r:embed="rId6"/>
              <a:stretch>
                <a:fillRect l="-29" t="0" r="-29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86981" y="54264"/>
              <a:ext cx="4416333" cy="3114276"/>
            </a:xfrm>
            <a:custGeom>
              <a:avLst/>
              <a:gdLst/>
              <a:ahLst/>
              <a:cxnLst/>
              <a:rect r="r" b="b" t="t" l="l"/>
              <a:pathLst>
                <a:path h="3114276" w="4416333">
                  <a:moveTo>
                    <a:pt x="1660721" y="160428"/>
                  </a:moveTo>
                  <a:cubicBezTo>
                    <a:pt x="1607585" y="182322"/>
                    <a:pt x="1555237" y="205918"/>
                    <a:pt x="1503817" y="230866"/>
                  </a:cubicBezTo>
                  <a:cubicBezTo>
                    <a:pt x="1331652" y="314401"/>
                    <a:pt x="1161945" y="372973"/>
                    <a:pt x="967616" y="352385"/>
                  </a:cubicBezTo>
                  <a:cubicBezTo>
                    <a:pt x="716284" y="325758"/>
                    <a:pt x="425732" y="298863"/>
                    <a:pt x="246969" y="477536"/>
                  </a:cubicBezTo>
                  <a:cubicBezTo>
                    <a:pt x="115853" y="608587"/>
                    <a:pt x="90724" y="812907"/>
                    <a:pt x="109069" y="997382"/>
                  </a:cubicBezTo>
                  <a:cubicBezTo>
                    <a:pt x="127413" y="1181858"/>
                    <a:pt x="181487" y="1363010"/>
                    <a:pt x="179567" y="1548386"/>
                  </a:cubicBezTo>
                  <a:cubicBezTo>
                    <a:pt x="177121" y="1784605"/>
                    <a:pt x="84384" y="2009209"/>
                    <a:pt x="32442" y="2239660"/>
                  </a:cubicBezTo>
                  <a:cubicBezTo>
                    <a:pt x="-19501" y="2470110"/>
                    <a:pt x="-23001" y="2734683"/>
                    <a:pt x="127409" y="2916836"/>
                  </a:cubicBezTo>
                  <a:cubicBezTo>
                    <a:pt x="327029" y="3158587"/>
                    <a:pt x="704374" y="3148484"/>
                    <a:pt x="1000316" y="3045021"/>
                  </a:cubicBezTo>
                  <a:cubicBezTo>
                    <a:pt x="1296259" y="2941557"/>
                    <a:pt x="1573861" y="2765925"/>
                    <a:pt x="1886476" y="2742313"/>
                  </a:cubicBezTo>
                  <a:cubicBezTo>
                    <a:pt x="2366120" y="2706084"/>
                    <a:pt x="2810276" y="3035185"/>
                    <a:pt x="3291270" y="3031046"/>
                  </a:cubicBezTo>
                  <a:cubicBezTo>
                    <a:pt x="3899470" y="3025814"/>
                    <a:pt x="4404848" y="2433888"/>
                    <a:pt x="4416105" y="1825740"/>
                  </a:cubicBezTo>
                  <a:cubicBezTo>
                    <a:pt x="4427361" y="1217592"/>
                    <a:pt x="4020929" y="651254"/>
                    <a:pt x="3487130" y="359705"/>
                  </a:cubicBezTo>
                  <a:cubicBezTo>
                    <a:pt x="3207876" y="207183"/>
                    <a:pt x="2919565" y="58358"/>
                    <a:pt x="2600517" y="13759"/>
                  </a:cubicBezTo>
                  <a:cubicBezTo>
                    <a:pt x="2279292" y="-31145"/>
                    <a:pt x="1957718" y="38055"/>
                    <a:pt x="1660721" y="160428"/>
                  </a:cubicBezTo>
                  <a:close/>
                </a:path>
              </a:pathLst>
            </a:custGeom>
            <a:blipFill>
              <a:blip r:embed="rId7"/>
              <a:stretch>
                <a:fillRect l="-2887" t="0" r="-2887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825117" y="2849722"/>
            <a:ext cx="5709105" cy="98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HIPÓTESIS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329175"/>
            <a:ext cx="3251587" cy="35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FRAD</a:t>
            </a: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AND SPIES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614715" y="419028"/>
            <a:ext cx="852815" cy="207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Product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14603" y="419028"/>
            <a:ext cx="613721" cy="207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547973" y="419028"/>
            <a:ext cx="644279" cy="207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059669" y="419028"/>
            <a:ext cx="791672" cy="207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Service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94172" y="5903595"/>
            <a:ext cx="14010997" cy="1645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Nuestra hipótesis es que un modelo CNN entrenado con imágenes etiquetadas puede clasificar aguacates con una precisión superior al 80%, ayudando a reducir errores humanos y pérdidas postcosecha.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2521084" y="-1673508"/>
            <a:ext cx="7115400" cy="5090539"/>
            <a:chOff x="0" y="0"/>
            <a:chExt cx="4584192" cy="32796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84192" cy="3279648"/>
            </a:xfrm>
            <a:custGeom>
              <a:avLst/>
              <a:gdLst/>
              <a:ahLst/>
              <a:cxnLst/>
              <a:rect r="r" b="b" t="t" l="l"/>
              <a:pathLst>
                <a:path h="3279648" w="4584192">
                  <a:moveTo>
                    <a:pt x="4584192" y="3279648"/>
                  </a:moveTo>
                  <a:lnTo>
                    <a:pt x="0" y="3279648"/>
                  </a:lnTo>
                  <a:lnTo>
                    <a:pt x="0" y="0"/>
                  </a:lnTo>
                  <a:lnTo>
                    <a:pt x="4584192" y="0"/>
                  </a:lnTo>
                  <a:lnTo>
                    <a:pt x="4584192" y="3279648"/>
                  </a:lnTo>
                  <a:close/>
                </a:path>
              </a:pathLst>
            </a:custGeom>
            <a:blipFill>
              <a:blip r:embed="rId2"/>
              <a:stretch>
                <a:fillRect l="-29" t="0" r="-29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86981" y="54264"/>
              <a:ext cx="4416333" cy="3114276"/>
            </a:xfrm>
            <a:custGeom>
              <a:avLst/>
              <a:gdLst/>
              <a:ahLst/>
              <a:cxnLst/>
              <a:rect r="r" b="b" t="t" l="l"/>
              <a:pathLst>
                <a:path h="3114276" w="4416333">
                  <a:moveTo>
                    <a:pt x="1660721" y="160428"/>
                  </a:moveTo>
                  <a:cubicBezTo>
                    <a:pt x="1607585" y="182322"/>
                    <a:pt x="1555237" y="205918"/>
                    <a:pt x="1503817" y="230866"/>
                  </a:cubicBezTo>
                  <a:cubicBezTo>
                    <a:pt x="1331652" y="314401"/>
                    <a:pt x="1161945" y="372973"/>
                    <a:pt x="967616" y="352385"/>
                  </a:cubicBezTo>
                  <a:cubicBezTo>
                    <a:pt x="716284" y="325758"/>
                    <a:pt x="425732" y="298863"/>
                    <a:pt x="246969" y="477536"/>
                  </a:cubicBezTo>
                  <a:cubicBezTo>
                    <a:pt x="115853" y="608587"/>
                    <a:pt x="90724" y="812907"/>
                    <a:pt x="109069" y="997382"/>
                  </a:cubicBezTo>
                  <a:cubicBezTo>
                    <a:pt x="127413" y="1181858"/>
                    <a:pt x="181487" y="1363010"/>
                    <a:pt x="179567" y="1548386"/>
                  </a:cubicBezTo>
                  <a:cubicBezTo>
                    <a:pt x="177121" y="1784605"/>
                    <a:pt x="84384" y="2009209"/>
                    <a:pt x="32442" y="2239660"/>
                  </a:cubicBezTo>
                  <a:cubicBezTo>
                    <a:pt x="-19501" y="2470110"/>
                    <a:pt x="-23001" y="2734683"/>
                    <a:pt x="127409" y="2916836"/>
                  </a:cubicBezTo>
                  <a:cubicBezTo>
                    <a:pt x="327029" y="3158587"/>
                    <a:pt x="704374" y="3148484"/>
                    <a:pt x="1000316" y="3045021"/>
                  </a:cubicBezTo>
                  <a:cubicBezTo>
                    <a:pt x="1296259" y="2941557"/>
                    <a:pt x="1573861" y="2765925"/>
                    <a:pt x="1886476" y="2742313"/>
                  </a:cubicBezTo>
                  <a:cubicBezTo>
                    <a:pt x="2366120" y="2706084"/>
                    <a:pt x="2810276" y="3035185"/>
                    <a:pt x="3291270" y="3031046"/>
                  </a:cubicBezTo>
                  <a:cubicBezTo>
                    <a:pt x="3899470" y="3025814"/>
                    <a:pt x="4404848" y="2433888"/>
                    <a:pt x="4416105" y="1825740"/>
                  </a:cubicBezTo>
                  <a:cubicBezTo>
                    <a:pt x="4427361" y="1217592"/>
                    <a:pt x="4020929" y="651254"/>
                    <a:pt x="3487130" y="359705"/>
                  </a:cubicBezTo>
                  <a:cubicBezTo>
                    <a:pt x="3207876" y="207183"/>
                    <a:pt x="2919565" y="58358"/>
                    <a:pt x="2600517" y="13759"/>
                  </a:cubicBezTo>
                  <a:cubicBezTo>
                    <a:pt x="2279292" y="-31145"/>
                    <a:pt x="1957718" y="38055"/>
                    <a:pt x="1660721" y="160428"/>
                  </a:cubicBezTo>
                  <a:close/>
                </a:path>
              </a:pathLst>
            </a:custGeom>
            <a:blipFill>
              <a:blip r:embed="rId3"/>
              <a:stretch>
                <a:fillRect l="0" t="-56356" r="0" b="-56356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true" rot="5472518">
            <a:off x="5896868" y="469670"/>
            <a:ext cx="5251455" cy="5571836"/>
          </a:xfrm>
          <a:custGeom>
            <a:avLst/>
            <a:gdLst/>
            <a:ahLst/>
            <a:cxnLst/>
            <a:rect r="r" b="b" t="t" l="l"/>
            <a:pathLst>
              <a:path h="5571836" w="5251455">
                <a:moveTo>
                  <a:pt x="0" y="5571836"/>
                </a:moveTo>
                <a:lnTo>
                  <a:pt x="5251455" y="5571836"/>
                </a:lnTo>
                <a:lnTo>
                  <a:pt x="5251455" y="0"/>
                </a:lnTo>
                <a:lnTo>
                  <a:pt x="0" y="0"/>
                </a:lnTo>
                <a:lnTo>
                  <a:pt x="0" y="557183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6682028" y="1342984"/>
            <a:ext cx="4802598" cy="7000871"/>
            <a:chOff x="0" y="0"/>
            <a:chExt cx="3136392" cy="4572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618" y="11"/>
              <a:ext cx="3132497" cy="4572003"/>
            </a:xfrm>
            <a:custGeom>
              <a:avLst/>
              <a:gdLst/>
              <a:ahLst/>
              <a:cxnLst/>
              <a:rect r="r" b="b" t="t" l="l"/>
              <a:pathLst>
                <a:path h="4572003" w="3132497">
                  <a:moveTo>
                    <a:pt x="2902689" y="1905506"/>
                  </a:moveTo>
                  <a:cubicBezTo>
                    <a:pt x="2918113" y="1875853"/>
                    <a:pt x="2932267" y="1846762"/>
                    <a:pt x="2944284" y="1818320"/>
                  </a:cubicBezTo>
                  <a:cubicBezTo>
                    <a:pt x="3084839" y="1485639"/>
                    <a:pt x="3101923" y="1100513"/>
                    <a:pt x="2951129" y="769261"/>
                  </a:cubicBezTo>
                  <a:cubicBezTo>
                    <a:pt x="2786846" y="408373"/>
                    <a:pt x="2454840" y="128151"/>
                    <a:pt x="2071517" y="26846"/>
                  </a:cubicBezTo>
                  <a:cubicBezTo>
                    <a:pt x="1936684" y="-8788"/>
                    <a:pt x="1781419" y="-19646"/>
                    <a:pt x="1668668" y="62443"/>
                  </a:cubicBezTo>
                  <a:cubicBezTo>
                    <a:pt x="1558576" y="142596"/>
                    <a:pt x="1519865" y="287856"/>
                    <a:pt x="1434186" y="393711"/>
                  </a:cubicBezTo>
                  <a:cubicBezTo>
                    <a:pt x="1212644" y="667416"/>
                    <a:pt x="779525" y="596680"/>
                    <a:pt x="456463" y="736726"/>
                  </a:cubicBezTo>
                  <a:cubicBezTo>
                    <a:pt x="113622" y="885348"/>
                    <a:pt x="-80578" y="1311340"/>
                    <a:pt x="32073" y="1667662"/>
                  </a:cubicBezTo>
                  <a:cubicBezTo>
                    <a:pt x="93307" y="1861349"/>
                    <a:pt x="231162" y="2029599"/>
                    <a:pt x="258714" y="2230861"/>
                  </a:cubicBezTo>
                  <a:cubicBezTo>
                    <a:pt x="295768" y="2501531"/>
                    <a:pt x="125842" y="2757050"/>
                    <a:pt x="98906" y="3028914"/>
                  </a:cubicBezTo>
                  <a:cubicBezTo>
                    <a:pt x="57483" y="3447010"/>
                    <a:pt x="357397" y="3823048"/>
                    <a:pt x="688513" y="4081615"/>
                  </a:cubicBezTo>
                  <a:cubicBezTo>
                    <a:pt x="998398" y="4323601"/>
                    <a:pt x="1360400" y="4512367"/>
                    <a:pt x="1750570" y="4560728"/>
                  </a:cubicBezTo>
                  <a:cubicBezTo>
                    <a:pt x="2140741" y="4609088"/>
                    <a:pt x="2560748" y="4502716"/>
                    <a:pt x="2839686" y="4225617"/>
                  </a:cubicBezTo>
                  <a:cubicBezTo>
                    <a:pt x="3118623" y="3948518"/>
                    <a:pt x="3224198" y="3490989"/>
                    <a:pt x="3041854" y="3142633"/>
                  </a:cubicBezTo>
                  <a:cubicBezTo>
                    <a:pt x="2944660" y="2956949"/>
                    <a:pt x="2777138" y="2811481"/>
                    <a:pt x="2701402" y="2615893"/>
                  </a:cubicBezTo>
                  <a:cubicBezTo>
                    <a:pt x="2607099" y="2372072"/>
                    <a:pt x="2789249" y="2123593"/>
                    <a:pt x="2902689" y="1905506"/>
                  </a:cubicBezTo>
                  <a:close/>
                </a:path>
              </a:pathLst>
            </a:custGeom>
            <a:blipFill>
              <a:blip r:embed="rId6"/>
              <a:stretch>
                <a:fillRect l="-4799" t="0" r="-4799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618" y="11"/>
              <a:ext cx="3134774" cy="4571989"/>
            </a:xfrm>
            <a:custGeom>
              <a:avLst/>
              <a:gdLst/>
              <a:ahLst/>
              <a:cxnLst/>
              <a:rect r="r" b="b" t="t" l="l"/>
              <a:pathLst>
                <a:path h="4571989" w="3134774">
                  <a:moveTo>
                    <a:pt x="3134774" y="4571989"/>
                  </a:moveTo>
                  <a:lnTo>
                    <a:pt x="0" y="4571989"/>
                  </a:lnTo>
                  <a:lnTo>
                    <a:pt x="0" y="0"/>
                  </a:lnTo>
                  <a:lnTo>
                    <a:pt x="3134774" y="0"/>
                  </a:lnTo>
                  <a:lnTo>
                    <a:pt x="3134774" y="4571989"/>
                  </a:lnTo>
                  <a:close/>
                </a:path>
              </a:pathLst>
            </a:custGeom>
            <a:blipFill>
              <a:blip r:embed="rId7"/>
              <a:stretch>
                <a:fillRect l="-43" t="0" r="-43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28700" y="3952382"/>
            <a:ext cx="451059" cy="451059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2A37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6593845"/>
            <a:ext cx="451059" cy="45105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C83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402549" y="3952382"/>
            <a:ext cx="451059" cy="451059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C83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402549" y="6593845"/>
            <a:ext cx="451059" cy="451059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2A37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28700" y="329175"/>
            <a:ext cx="3251587" cy="35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FRAD</a:t>
            </a: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AND SPIES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614715" y="419028"/>
            <a:ext cx="852815" cy="207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Product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014603" y="419028"/>
            <a:ext cx="613721" cy="207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547973" y="419028"/>
            <a:ext cx="644279" cy="207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059669" y="419028"/>
            <a:ext cx="791672" cy="207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Service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" y="2008362"/>
            <a:ext cx="5163513" cy="98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Métricas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00" y="4981855"/>
            <a:ext cx="5317333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Accu</a:t>
            </a: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racy mide el porcentaje total de aciertos del modelo.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 xml:space="preserve"> Nuestro objetivo es superar el 80%.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978181" y="3876182"/>
            <a:ext cx="183632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Accuracy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030775" y="3740292"/>
            <a:ext cx="850682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8700" y="7623318"/>
            <a:ext cx="4852757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1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recision indica qué tan confiable es el modelo cuando predice una enfermedad.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978181" y="6517645"/>
            <a:ext cx="183632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 xml:space="preserve"> Precision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030775" y="6381755"/>
            <a:ext cx="850682" cy="717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321463" y="4838768"/>
            <a:ext cx="4933843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1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ecall mide qué tan bien detectamos todos los aguacates enfermos.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352030" y="3876182"/>
            <a:ext cx="183632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Recall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404623" y="3740292"/>
            <a:ext cx="850682" cy="717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321463" y="7483054"/>
            <a:ext cx="4933843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F1-Sc</a:t>
            </a: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ore combina Precision y Recall para evaluar el balance general del modelo.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13352030" y="6517645"/>
            <a:ext cx="183632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F1-Score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6404623" y="6381755"/>
            <a:ext cx="850682" cy="717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6763114" y="8535249"/>
            <a:ext cx="451059" cy="451059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C83F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6682028" y="9078809"/>
            <a:ext cx="5332575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Loss r</a:t>
            </a:r>
            <a:r>
              <a:rPr lang="en-US" sz="1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epresenta el error del modelo durante el entrenamiento.</a:t>
            </a:r>
          </a:p>
          <a:p>
            <a:pPr algn="l">
              <a:lnSpc>
                <a:spcPts val="2519"/>
              </a:lnSpc>
            </a:pPr>
          </a:p>
        </p:txBody>
      </p:sp>
      <p:sp>
        <p:nvSpPr>
          <p:cNvPr name="TextBox 43" id="43"/>
          <p:cNvSpPr txBox="true"/>
          <p:nvPr/>
        </p:nvSpPr>
        <p:spPr>
          <a:xfrm rot="0">
            <a:off x="7712594" y="8459049"/>
            <a:ext cx="183632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Loss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765188" y="8323159"/>
            <a:ext cx="850682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03007" y="6985399"/>
            <a:ext cx="8442152" cy="5351429"/>
          </a:xfrm>
          <a:custGeom>
            <a:avLst/>
            <a:gdLst/>
            <a:ahLst/>
            <a:cxnLst/>
            <a:rect r="r" b="b" t="t" l="l"/>
            <a:pathLst>
              <a:path h="5351429" w="8442152">
                <a:moveTo>
                  <a:pt x="0" y="0"/>
                </a:moveTo>
                <a:lnTo>
                  <a:pt x="8442152" y="0"/>
                </a:lnTo>
                <a:lnTo>
                  <a:pt x="8442152" y="5351429"/>
                </a:lnTo>
                <a:lnTo>
                  <a:pt x="0" y="53514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-1064560" y="3284972"/>
            <a:ext cx="5521795" cy="5455532"/>
            <a:chOff x="0" y="0"/>
            <a:chExt cx="4572000" cy="451713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6" y="513"/>
              <a:ext cx="4571980" cy="4516120"/>
            </a:xfrm>
            <a:custGeom>
              <a:avLst/>
              <a:gdLst/>
              <a:ahLst/>
              <a:cxnLst/>
              <a:rect r="r" b="b" t="t" l="l"/>
              <a:pathLst>
                <a:path h="4516120" w="4571980">
                  <a:moveTo>
                    <a:pt x="2625851" y="4304528"/>
                  </a:moveTo>
                  <a:cubicBezTo>
                    <a:pt x="2921033" y="4133201"/>
                    <a:pt x="3157857" y="3863670"/>
                    <a:pt x="3286333" y="3517500"/>
                  </a:cubicBezTo>
                  <a:cubicBezTo>
                    <a:pt x="3350757" y="3343915"/>
                    <a:pt x="3446003" y="3169721"/>
                    <a:pt x="3606759" y="3077855"/>
                  </a:cubicBezTo>
                  <a:cubicBezTo>
                    <a:pt x="3730733" y="3007011"/>
                    <a:pt x="3878617" y="2993695"/>
                    <a:pt x="4012778" y="2944817"/>
                  </a:cubicBezTo>
                  <a:cubicBezTo>
                    <a:pt x="4395008" y="2805565"/>
                    <a:pt x="4622861" y="2363132"/>
                    <a:pt x="4562274" y="1960870"/>
                  </a:cubicBezTo>
                  <a:cubicBezTo>
                    <a:pt x="4501687" y="1558606"/>
                    <a:pt x="4187520" y="1218860"/>
                    <a:pt x="3806807" y="1075508"/>
                  </a:cubicBezTo>
                  <a:cubicBezTo>
                    <a:pt x="3593093" y="995039"/>
                    <a:pt x="3379154" y="1012626"/>
                    <a:pt x="3167147" y="927755"/>
                  </a:cubicBezTo>
                  <a:cubicBezTo>
                    <a:pt x="2880240" y="812900"/>
                    <a:pt x="2630210" y="554377"/>
                    <a:pt x="2386066" y="364902"/>
                  </a:cubicBezTo>
                  <a:cubicBezTo>
                    <a:pt x="2141922" y="175426"/>
                    <a:pt x="1861139" y="2708"/>
                    <a:pt x="1552106" y="28"/>
                  </a:cubicBezTo>
                  <a:cubicBezTo>
                    <a:pt x="1179425" y="-3203"/>
                    <a:pt x="823018" y="276043"/>
                    <a:pt x="736997" y="638670"/>
                  </a:cubicBezTo>
                  <a:cubicBezTo>
                    <a:pt x="697719" y="804254"/>
                    <a:pt x="710125" y="977519"/>
                    <a:pt x="687974" y="1146250"/>
                  </a:cubicBezTo>
                  <a:cubicBezTo>
                    <a:pt x="602789" y="1795089"/>
                    <a:pt x="21501" y="2313971"/>
                    <a:pt x="552" y="2968042"/>
                  </a:cubicBezTo>
                  <a:cubicBezTo>
                    <a:pt x="-16610" y="3503877"/>
                    <a:pt x="368713" y="3991750"/>
                    <a:pt x="846422" y="4235089"/>
                  </a:cubicBezTo>
                  <a:cubicBezTo>
                    <a:pt x="1095379" y="4361905"/>
                    <a:pt x="1355090" y="4472021"/>
                    <a:pt x="1634945" y="4504757"/>
                  </a:cubicBezTo>
                  <a:cubicBezTo>
                    <a:pt x="1989959" y="4546286"/>
                    <a:pt x="2336033" y="4472741"/>
                    <a:pt x="2625851" y="4304528"/>
                  </a:cubicBezTo>
                  <a:close/>
                </a:path>
              </a:pathLst>
            </a:custGeom>
            <a:blipFill>
              <a:blip r:embed="rId4"/>
              <a:stretch>
                <a:fillRect l="-24016" t="0" r="-24016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572000" cy="4517135"/>
            </a:xfrm>
            <a:custGeom>
              <a:avLst/>
              <a:gdLst/>
              <a:ahLst/>
              <a:cxnLst/>
              <a:rect r="r" b="b" t="t" l="l"/>
              <a:pathLst>
                <a:path h="4517135" w="4572000">
                  <a:moveTo>
                    <a:pt x="4572000" y="4517135"/>
                  </a:moveTo>
                  <a:lnTo>
                    <a:pt x="0" y="4517135"/>
                  </a:lnTo>
                  <a:lnTo>
                    <a:pt x="0" y="0"/>
                  </a:lnTo>
                  <a:lnTo>
                    <a:pt x="4572000" y="0"/>
                  </a:lnTo>
                  <a:lnTo>
                    <a:pt x="4572000" y="4517135"/>
                  </a:lnTo>
                  <a:close/>
                </a:path>
              </a:pathLst>
            </a:custGeom>
            <a:blipFill>
              <a:blip r:embed="rId5"/>
              <a:stretch>
                <a:fillRect l="-25" t="0" r="-25" b="0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4890585" y="3488014"/>
            <a:ext cx="5297121" cy="5770286"/>
            <a:chOff x="0" y="0"/>
            <a:chExt cx="4197095" cy="4572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141" y="1"/>
              <a:ext cx="4194143" cy="4571978"/>
            </a:xfrm>
            <a:custGeom>
              <a:avLst/>
              <a:gdLst/>
              <a:ahLst/>
              <a:cxnLst/>
              <a:rect r="r" b="b" t="t" l="l"/>
              <a:pathLst>
                <a:path h="4571978" w="4194143">
                  <a:moveTo>
                    <a:pt x="41785" y="2758506"/>
                  </a:moveTo>
                  <a:cubicBezTo>
                    <a:pt x="-2988" y="2314525"/>
                    <a:pt x="-25436" y="1842652"/>
                    <a:pt x="45678" y="1465408"/>
                  </a:cubicBezTo>
                  <a:cubicBezTo>
                    <a:pt x="125025" y="1044481"/>
                    <a:pt x="304474" y="629852"/>
                    <a:pt x="621468" y="341776"/>
                  </a:cubicBezTo>
                  <a:cubicBezTo>
                    <a:pt x="938462" y="53701"/>
                    <a:pt x="1407534" y="-86438"/>
                    <a:pt x="1811287" y="56580"/>
                  </a:cubicBezTo>
                  <a:cubicBezTo>
                    <a:pt x="2029191" y="133767"/>
                    <a:pt x="2234642" y="383293"/>
                    <a:pt x="2450487" y="466060"/>
                  </a:cubicBezTo>
                  <a:cubicBezTo>
                    <a:pt x="2773933" y="590087"/>
                    <a:pt x="3112654" y="374473"/>
                    <a:pt x="3438885" y="490977"/>
                  </a:cubicBezTo>
                  <a:cubicBezTo>
                    <a:pt x="3803019" y="621016"/>
                    <a:pt x="4096336" y="1030358"/>
                    <a:pt x="4172306" y="1409482"/>
                  </a:cubicBezTo>
                  <a:cubicBezTo>
                    <a:pt x="4248274" y="1788608"/>
                    <a:pt x="4123485" y="2132744"/>
                    <a:pt x="3837567" y="2393045"/>
                  </a:cubicBezTo>
                  <a:cubicBezTo>
                    <a:pt x="3477503" y="2720847"/>
                    <a:pt x="2979042" y="2972499"/>
                    <a:pt x="2624910" y="3306701"/>
                  </a:cubicBezTo>
                  <a:cubicBezTo>
                    <a:pt x="2322597" y="3592001"/>
                    <a:pt x="2136790" y="3928648"/>
                    <a:pt x="1792316" y="4161301"/>
                  </a:cubicBezTo>
                  <a:cubicBezTo>
                    <a:pt x="1426701" y="4408233"/>
                    <a:pt x="945211" y="4318999"/>
                    <a:pt x="609331" y="4063871"/>
                  </a:cubicBezTo>
                  <a:cubicBezTo>
                    <a:pt x="201442" y="3754045"/>
                    <a:pt x="90582" y="3242407"/>
                    <a:pt x="41785" y="2758506"/>
                  </a:cubicBezTo>
                  <a:close/>
                  <a:moveTo>
                    <a:pt x="3438420" y="4372887"/>
                  </a:moveTo>
                  <a:cubicBezTo>
                    <a:pt x="3606871" y="4260947"/>
                    <a:pt x="3830939" y="4267377"/>
                    <a:pt x="3987112" y="4142603"/>
                  </a:cubicBezTo>
                  <a:cubicBezTo>
                    <a:pt x="4129682" y="4028694"/>
                    <a:pt x="4208728" y="3837244"/>
                    <a:pt x="4170439" y="3658398"/>
                  </a:cubicBezTo>
                  <a:cubicBezTo>
                    <a:pt x="4107761" y="3365636"/>
                    <a:pt x="3783503" y="3213104"/>
                    <a:pt x="3511594" y="3311664"/>
                  </a:cubicBezTo>
                  <a:cubicBezTo>
                    <a:pt x="3131868" y="3449304"/>
                    <a:pt x="2748378" y="3840574"/>
                    <a:pt x="2643553" y="4233000"/>
                  </a:cubicBezTo>
                  <a:cubicBezTo>
                    <a:pt x="2592144" y="4425460"/>
                    <a:pt x="2744449" y="4534752"/>
                    <a:pt x="2913641" y="4565016"/>
                  </a:cubicBezTo>
                  <a:cubicBezTo>
                    <a:pt x="2977598" y="4576457"/>
                    <a:pt x="3036163" y="4573134"/>
                    <a:pt x="3091346" y="4559891"/>
                  </a:cubicBezTo>
                  <a:cubicBezTo>
                    <a:pt x="3216643" y="4529819"/>
                    <a:pt x="3324497" y="4448593"/>
                    <a:pt x="3438420" y="4372887"/>
                  </a:cubicBezTo>
                  <a:close/>
                </a:path>
              </a:pathLst>
            </a:custGeom>
            <a:blipFill>
              <a:blip r:embed="rId6"/>
              <a:stretch>
                <a:fillRect l="0" t="-37478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10"/>
              <a:ext cx="4197095" cy="4571979"/>
            </a:xfrm>
            <a:custGeom>
              <a:avLst/>
              <a:gdLst/>
              <a:ahLst/>
              <a:cxnLst/>
              <a:rect r="r" b="b" t="t" l="l"/>
              <a:pathLst>
                <a:path h="4571979" w="4197095">
                  <a:moveTo>
                    <a:pt x="4197095" y="4571980"/>
                  </a:moveTo>
                  <a:lnTo>
                    <a:pt x="0" y="4571980"/>
                  </a:lnTo>
                  <a:lnTo>
                    <a:pt x="0" y="0"/>
                  </a:lnTo>
                  <a:lnTo>
                    <a:pt x="4197095" y="0"/>
                  </a:lnTo>
                  <a:lnTo>
                    <a:pt x="4197095" y="4571980"/>
                  </a:lnTo>
                  <a:close/>
                </a:path>
              </a:pathLst>
            </a:custGeom>
            <a:blipFill>
              <a:blip r:embed="rId7"/>
              <a:stretch>
                <a:fillRect l="-40" t="0" r="-4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25132" y="1749278"/>
            <a:ext cx="4887805" cy="2896273"/>
            <a:chOff x="0" y="0"/>
            <a:chExt cx="1287323" cy="7628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7323" cy="762804"/>
            </a:xfrm>
            <a:custGeom>
              <a:avLst/>
              <a:gdLst/>
              <a:ahLst/>
              <a:cxnLst/>
              <a:rect r="r" b="b" t="t" l="l"/>
              <a:pathLst>
                <a:path h="762804" w="1287323">
                  <a:moveTo>
                    <a:pt x="63357" y="0"/>
                  </a:moveTo>
                  <a:lnTo>
                    <a:pt x="1223966" y="0"/>
                  </a:lnTo>
                  <a:cubicBezTo>
                    <a:pt x="1258957" y="0"/>
                    <a:pt x="1287323" y="28366"/>
                    <a:pt x="1287323" y="63357"/>
                  </a:cubicBezTo>
                  <a:lnTo>
                    <a:pt x="1287323" y="699447"/>
                  </a:lnTo>
                  <a:cubicBezTo>
                    <a:pt x="1287323" y="716251"/>
                    <a:pt x="1280648" y="732366"/>
                    <a:pt x="1268766" y="744248"/>
                  </a:cubicBezTo>
                  <a:cubicBezTo>
                    <a:pt x="1256885" y="756129"/>
                    <a:pt x="1240769" y="762804"/>
                    <a:pt x="1223966" y="762804"/>
                  </a:cubicBezTo>
                  <a:lnTo>
                    <a:pt x="63357" y="762804"/>
                  </a:lnTo>
                  <a:cubicBezTo>
                    <a:pt x="28366" y="762804"/>
                    <a:pt x="0" y="734439"/>
                    <a:pt x="0" y="699447"/>
                  </a:cubicBezTo>
                  <a:lnTo>
                    <a:pt x="0" y="63357"/>
                  </a:lnTo>
                  <a:cubicBezTo>
                    <a:pt x="0" y="28366"/>
                    <a:pt x="28366" y="0"/>
                    <a:pt x="63357" y="0"/>
                  </a:cubicBezTo>
                  <a:close/>
                </a:path>
              </a:pathLst>
            </a:custGeom>
            <a:solidFill>
              <a:srgbClr val="82A372"/>
            </a:soli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287323" cy="8199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828512" y="1749278"/>
            <a:ext cx="4887805" cy="2752503"/>
            <a:chOff x="0" y="0"/>
            <a:chExt cx="1287323" cy="72493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7323" cy="724939"/>
            </a:xfrm>
            <a:custGeom>
              <a:avLst/>
              <a:gdLst/>
              <a:ahLst/>
              <a:cxnLst/>
              <a:rect r="r" b="b" t="t" l="l"/>
              <a:pathLst>
                <a:path h="724939" w="1287323">
                  <a:moveTo>
                    <a:pt x="63357" y="0"/>
                  </a:moveTo>
                  <a:lnTo>
                    <a:pt x="1223966" y="0"/>
                  </a:lnTo>
                  <a:cubicBezTo>
                    <a:pt x="1258957" y="0"/>
                    <a:pt x="1287323" y="28366"/>
                    <a:pt x="1287323" y="63357"/>
                  </a:cubicBezTo>
                  <a:lnTo>
                    <a:pt x="1287323" y="661582"/>
                  </a:lnTo>
                  <a:cubicBezTo>
                    <a:pt x="1287323" y="678385"/>
                    <a:pt x="1280648" y="694501"/>
                    <a:pt x="1268766" y="706382"/>
                  </a:cubicBezTo>
                  <a:cubicBezTo>
                    <a:pt x="1256885" y="718264"/>
                    <a:pt x="1240769" y="724939"/>
                    <a:pt x="1223966" y="724939"/>
                  </a:cubicBezTo>
                  <a:lnTo>
                    <a:pt x="63357" y="724939"/>
                  </a:lnTo>
                  <a:cubicBezTo>
                    <a:pt x="28366" y="724939"/>
                    <a:pt x="0" y="696573"/>
                    <a:pt x="0" y="661582"/>
                  </a:cubicBezTo>
                  <a:lnTo>
                    <a:pt x="0" y="63357"/>
                  </a:lnTo>
                  <a:cubicBezTo>
                    <a:pt x="0" y="28366"/>
                    <a:pt x="28366" y="0"/>
                    <a:pt x="63357" y="0"/>
                  </a:cubicBezTo>
                  <a:close/>
                </a:path>
              </a:pathLst>
            </a:custGeom>
            <a:solidFill>
              <a:srgbClr val="F6C83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287323" cy="7820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28700" y="761853"/>
            <a:ext cx="11599623" cy="98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Problemas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329175"/>
            <a:ext cx="3251587" cy="35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FRAD</a:t>
            </a: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AND SPIES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614715" y="419028"/>
            <a:ext cx="852815" cy="207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Product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14603" y="419028"/>
            <a:ext cx="613721" cy="207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547973" y="419028"/>
            <a:ext cx="644279" cy="207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059669" y="419028"/>
            <a:ext cx="791672" cy="207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Service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62657" y="2568978"/>
            <a:ext cx="4612754" cy="1785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6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16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 xml:space="preserve"> dataset tenía más imágenes de aguacates sanos que enfermos. Esto podía provocar que el modelo aprendiera más una clase que otra. Para solucionarlo utilizamos pesos de clase y Data Augmentation.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16295" y="1993187"/>
            <a:ext cx="4884237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01. Desbalance entre clases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983370" y="2667912"/>
            <a:ext cx="4733533" cy="1583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 antracnosis temprana se parece mucho a un aguacate sano. Esto generaba falsos negativos. Para mejorar la generalización utilizamos Dropout y VGG16.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293091" y="1983662"/>
            <a:ext cx="3455832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02. Similitud visual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906710" y="2685819"/>
            <a:ext cx="4535352" cy="126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 xml:space="preserve"> dataset era relativamente pequeño para Deep Learning.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 xml:space="preserve"> Por eso utilizamos técnicas de aumento de datos y Transfer Learning.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116491" y="1975444"/>
            <a:ext cx="4142809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03. Dataset pequeño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630716" y="4354599"/>
            <a:ext cx="4887805" cy="2630801"/>
            <a:chOff x="0" y="0"/>
            <a:chExt cx="1287323" cy="69288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87323" cy="692886"/>
            </a:xfrm>
            <a:custGeom>
              <a:avLst/>
              <a:gdLst/>
              <a:ahLst/>
              <a:cxnLst/>
              <a:rect r="r" b="b" t="t" l="l"/>
              <a:pathLst>
                <a:path h="692886" w="1287323">
                  <a:moveTo>
                    <a:pt x="63357" y="0"/>
                  </a:moveTo>
                  <a:lnTo>
                    <a:pt x="1223966" y="0"/>
                  </a:lnTo>
                  <a:cubicBezTo>
                    <a:pt x="1258957" y="0"/>
                    <a:pt x="1287323" y="28366"/>
                    <a:pt x="1287323" y="63357"/>
                  </a:cubicBezTo>
                  <a:lnTo>
                    <a:pt x="1287323" y="629529"/>
                  </a:lnTo>
                  <a:cubicBezTo>
                    <a:pt x="1287323" y="664520"/>
                    <a:pt x="1258957" y="692886"/>
                    <a:pt x="1223966" y="692886"/>
                  </a:cubicBezTo>
                  <a:lnTo>
                    <a:pt x="63357" y="692886"/>
                  </a:lnTo>
                  <a:cubicBezTo>
                    <a:pt x="28366" y="692886"/>
                    <a:pt x="0" y="664520"/>
                    <a:pt x="0" y="629529"/>
                  </a:cubicBezTo>
                  <a:lnTo>
                    <a:pt x="0" y="63357"/>
                  </a:lnTo>
                  <a:cubicBezTo>
                    <a:pt x="0" y="28366"/>
                    <a:pt x="28366" y="0"/>
                    <a:pt x="63357" y="0"/>
                  </a:cubicBezTo>
                  <a:close/>
                </a:path>
              </a:pathLst>
            </a:custGeom>
            <a:solidFill>
              <a:srgbClr val="82A372"/>
            </a:solidFill>
            <a:ln cap="rnd">
              <a:noFill/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1287323" cy="7500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2795275" y="5234766"/>
            <a:ext cx="4558688" cy="1583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dataset no tenía separación entre entrenamiento y prueba.  Entonces realizamos una división estratificada para evitar data leakage.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226043" y="4569351"/>
            <a:ext cx="3923705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04. División de datos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2554257" y="7385449"/>
            <a:ext cx="4887805" cy="2630801"/>
            <a:chOff x="0" y="0"/>
            <a:chExt cx="1287323" cy="69288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87323" cy="692886"/>
            </a:xfrm>
            <a:custGeom>
              <a:avLst/>
              <a:gdLst/>
              <a:ahLst/>
              <a:cxnLst/>
              <a:rect r="r" b="b" t="t" l="l"/>
              <a:pathLst>
                <a:path h="692886" w="1287323">
                  <a:moveTo>
                    <a:pt x="63357" y="0"/>
                  </a:moveTo>
                  <a:lnTo>
                    <a:pt x="1223966" y="0"/>
                  </a:lnTo>
                  <a:cubicBezTo>
                    <a:pt x="1258957" y="0"/>
                    <a:pt x="1287323" y="28366"/>
                    <a:pt x="1287323" y="63357"/>
                  </a:cubicBezTo>
                  <a:lnTo>
                    <a:pt x="1287323" y="629529"/>
                  </a:lnTo>
                  <a:cubicBezTo>
                    <a:pt x="1287323" y="664520"/>
                    <a:pt x="1258957" y="692886"/>
                    <a:pt x="1223966" y="692886"/>
                  </a:cubicBezTo>
                  <a:lnTo>
                    <a:pt x="63357" y="692886"/>
                  </a:lnTo>
                  <a:cubicBezTo>
                    <a:pt x="28366" y="692886"/>
                    <a:pt x="0" y="664520"/>
                    <a:pt x="0" y="629529"/>
                  </a:cubicBezTo>
                  <a:lnTo>
                    <a:pt x="0" y="63357"/>
                  </a:lnTo>
                  <a:cubicBezTo>
                    <a:pt x="0" y="28366"/>
                    <a:pt x="28366" y="0"/>
                    <a:pt x="63357" y="0"/>
                  </a:cubicBezTo>
                  <a:close/>
                </a:path>
              </a:pathLst>
            </a:custGeom>
            <a:solidFill>
              <a:srgbClr val="F6C83F"/>
            </a:solidFill>
            <a:ln cap="rnd">
              <a:noFill/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1287323" cy="7500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3040959" y="8644919"/>
            <a:ext cx="3914401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Las imágenes originales tenían una resolución muy alta y consumían demasiados recursos.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906710" y="7834463"/>
            <a:ext cx="4535352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05. Imágenes muy grandes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01107" y="2805984"/>
            <a:ext cx="5158361" cy="6276767"/>
          </a:xfrm>
          <a:custGeom>
            <a:avLst/>
            <a:gdLst/>
            <a:ahLst/>
            <a:cxnLst/>
            <a:rect r="r" b="b" t="t" l="l"/>
            <a:pathLst>
              <a:path h="6276767" w="5158361">
                <a:moveTo>
                  <a:pt x="0" y="0"/>
                </a:moveTo>
                <a:lnTo>
                  <a:pt x="5158361" y="0"/>
                </a:lnTo>
                <a:lnTo>
                  <a:pt x="5158361" y="6276767"/>
                </a:lnTo>
                <a:lnTo>
                  <a:pt x="0" y="62767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028700" y="1409641"/>
            <a:ext cx="4177659" cy="6089882"/>
            <a:chOff x="0" y="0"/>
            <a:chExt cx="3136392" cy="4572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618" y="11"/>
              <a:ext cx="3132497" cy="4572003"/>
            </a:xfrm>
            <a:custGeom>
              <a:avLst/>
              <a:gdLst/>
              <a:ahLst/>
              <a:cxnLst/>
              <a:rect r="r" b="b" t="t" l="l"/>
              <a:pathLst>
                <a:path h="4572003" w="3132497">
                  <a:moveTo>
                    <a:pt x="2902689" y="1905506"/>
                  </a:moveTo>
                  <a:cubicBezTo>
                    <a:pt x="2918113" y="1875853"/>
                    <a:pt x="2932267" y="1846762"/>
                    <a:pt x="2944284" y="1818320"/>
                  </a:cubicBezTo>
                  <a:cubicBezTo>
                    <a:pt x="3084839" y="1485639"/>
                    <a:pt x="3101923" y="1100513"/>
                    <a:pt x="2951129" y="769261"/>
                  </a:cubicBezTo>
                  <a:cubicBezTo>
                    <a:pt x="2786846" y="408373"/>
                    <a:pt x="2454840" y="128151"/>
                    <a:pt x="2071517" y="26846"/>
                  </a:cubicBezTo>
                  <a:cubicBezTo>
                    <a:pt x="1936684" y="-8788"/>
                    <a:pt x="1781419" y="-19646"/>
                    <a:pt x="1668668" y="62443"/>
                  </a:cubicBezTo>
                  <a:cubicBezTo>
                    <a:pt x="1558576" y="142596"/>
                    <a:pt x="1519865" y="287856"/>
                    <a:pt x="1434186" y="393711"/>
                  </a:cubicBezTo>
                  <a:cubicBezTo>
                    <a:pt x="1212644" y="667416"/>
                    <a:pt x="779525" y="596680"/>
                    <a:pt x="456463" y="736726"/>
                  </a:cubicBezTo>
                  <a:cubicBezTo>
                    <a:pt x="113622" y="885348"/>
                    <a:pt x="-80578" y="1311340"/>
                    <a:pt x="32073" y="1667662"/>
                  </a:cubicBezTo>
                  <a:cubicBezTo>
                    <a:pt x="93307" y="1861349"/>
                    <a:pt x="231162" y="2029599"/>
                    <a:pt x="258714" y="2230861"/>
                  </a:cubicBezTo>
                  <a:cubicBezTo>
                    <a:pt x="295768" y="2501531"/>
                    <a:pt x="125842" y="2757050"/>
                    <a:pt x="98906" y="3028914"/>
                  </a:cubicBezTo>
                  <a:cubicBezTo>
                    <a:pt x="57483" y="3447010"/>
                    <a:pt x="357397" y="3823048"/>
                    <a:pt x="688513" y="4081615"/>
                  </a:cubicBezTo>
                  <a:cubicBezTo>
                    <a:pt x="998398" y="4323601"/>
                    <a:pt x="1360400" y="4512367"/>
                    <a:pt x="1750570" y="4560728"/>
                  </a:cubicBezTo>
                  <a:cubicBezTo>
                    <a:pt x="2140741" y="4609088"/>
                    <a:pt x="2560748" y="4502716"/>
                    <a:pt x="2839686" y="4225617"/>
                  </a:cubicBezTo>
                  <a:cubicBezTo>
                    <a:pt x="3118623" y="3948518"/>
                    <a:pt x="3224198" y="3490989"/>
                    <a:pt x="3041854" y="3142633"/>
                  </a:cubicBezTo>
                  <a:cubicBezTo>
                    <a:pt x="2944660" y="2956949"/>
                    <a:pt x="2777138" y="2811481"/>
                    <a:pt x="2701402" y="2615893"/>
                  </a:cubicBezTo>
                  <a:cubicBezTo>
                    <a:pt x="2607099" y="2372072"/>
                    <a:pt x="2789249" y="2123593"/>
                    <a:pt x="2902689" y="1905506"/>
                  </a:cubicBezTo>
                  <a:close/>
                </a:path>
              </a:pathLst>
            </a:custGeom>
            <a:blipFill>
              <a:blip r:embed="rId4"/>
              <a:stretch>
                <a:fillRect l="0" t="-1339" r="0" b="-1339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618" y="11"/>
              <a:ext cx="3134774" cy="4571989"/>
            </a:xfrm>
            <a:custGeom>
              <a:avLst/>
              <a:gdLst/>
              <a:ahLst/>
              <a:cxnLst/>
              <a:rect r="r" b="b" t="t" l="l"/>
              <a:pathLst>
                <a:path h="4571989" w="3134774">
                  <a:moveTo>
                    <a:pt x="3134774" y="4571989"/>
                  </a:moveTo>
                  <a:lnTo>
                    <a:pt x="0" y="4571989"/>
                  </a:lnTo>
                  <a:lnTo>
                    <a:pt x="0" y="0"/>
                  </a:lnTo>
                  <a:lnTo>
                    <a:pt x="3134774" y="0"/>
                  </a:lnTo>
                  <a:lnTo>
                    <a:pt x="3134774" y="4571989"/>
                  </a:lnTo>
                  <a:close/>
                </a:path>
              </a:pathLst>
            </a:custGeom>
            <a:blipFill>
              <a:blip r:embed="rId5"/>
              <a:stretch>
                <a:fillRect l="-43" t="0" r="-43" b="0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5516755" y="2784191"/>
            <a:ext cx="4481827" cy="6089439"/>
            <a:chOff x="0" y="0"/>
            <a:chExt cx="3364992" cy="4572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106" y="-6"/>
              <a:ext cx="3361350" cy="4572009"/>
            </a:xfrm>
            <a:custGeom>
              <a:avLst/>
              <a:gdLst/>
              <a:ahLst/>
              <a:cxnLst/>
              <a:rect r="r" b="b" t="t" l="l"/>
              <a:pathLst>
                <a:path h="4572009" w="3361350">
                  <a:moveTo>
                    <a:pt x="3137507" y="351917"/>
                  </a:moveTo>
                  <a:cubicBezTo>
                    <a:pt x="3133204" y="346213"/>
                    <a:pt x="3128834" y="340541"/>
                    <a:pt x="3124395" y="334903"/>
                  </a:cubicBezTo>
                  <a:cubicBezTo>
                    <a:pt x="3065856" y="260510"/>
                    <a:pt x="2997668" y="195446"/>
                    <a:pt x="2919739" y="141576"/>
                  </a:cubicBezTo>
                  <a:cubicBezTo>
                    <a:pt x="2806524" y="63314"/>
                    <a:pt x="2670658" y="16035"/>
                    <a:pt x="2533897" y="3414"/>
                  </a:cubicBezTo>
                  <a:cubicBezTo>
                    <a:pt x="2294865" y="-18648"/>
                    <a:pt x="2047933" y="67204"/>
                    <a:pt x="1874137" y="232793"/>
                  </a:cubicBezTo>
                  <a:cubicBezTo>
                    <a:pt x="1707026" y="392014"/>
                    <a:pt x="1606039" y="618483"/>
                    <a:pt x="1414062" y="746631"/>
                  </a:cubicBezTo>
                  <a:cubicBezTo>
                    <a:pt x="1067370" y="978057"/>
                    <a:pt x="546657" y="811779"/>
                    <a:pt x="226682" y="1078931"/>
                  </a:cubicBezTo>
                  <a:cubicBezTo>
                    <a:pt x="47084" y="1228881"/>
                    <a:pt x="-16536" y="1482873"/>
                    <a:pt x="3566" y="1715979"/>
                  </a:cubicBezTo>
                  <a:cubicBezTo>
                    <a:pt x="23669" y="1949085"/>
                    <a:pt x="115029" y="2169110"/>
                    <a:pt x="198755" y="2387587"/>
                  </a:cubicBezTo>
                  <a:cubicBezTo>
                    <a:pt x="282481" y="2606063"/>
                    <a:pt x="360648" y="2833606"/>
                    <a:pt x="352392" y="3067431"/>
                  </a:cubicBezTo>
                  <a:cubicBezTo>
                    <a:pt x="346364" y="3238106"/>
                    <a:pt x="294461" y="3403472"/>
                    <a:pt x="267463" y="3572106"/>
                  </a:cubicBezTo>
                  <a:cubicBezTo>
                    <a:pt x="240464" y="3740739"/>
                    <a:pt x="241276" y="3924135"/>
                    <a:pt x="331106" y="4069379"/>
                  </a:cubicBezTo>
                  <a:cubicBezTo>
                    <a:pt x="423615" y="4218955"/>
                    <a:pt x="592493" y="4300966"/>
                    <a:pt x="754888" y="4368473"/>
                  </a:cubicBezTo>
                  <a:cubicBezTo>
                    <a:pt x="1036707" y="4485624"/>
                    <a:pt x="1335241" y="4584122"/>
                    <a:pt x="1640149" y="4570798"/>
                  </a:cubicBezTo>
                  <a:cubicBezTo>
                    <a:pt x="1945055" y="4557475"/>
                    <a:pt x="2259325" y="4412867"/>
                    <a:pt x="2404822" y="4144575"/>
                  </a:cubicBezTo>
                  <a:cubicBezTo>
                    <a:pt x="2638517" y="3713646"/>
                    <a:pt x="2371673" y="3153636"/>
                    <a:pt x="2555120" y="2699035"/>
                  </a:cubicBezTo>
                  <a:cubicBezTo>
                    <a:pt x="2648684" y="2467175"/>
                    <a:pt x="2846372" y="2296603"/>
                    <a:pt x="2999394" y="2098874"/>
                  </a:cubicBezTo>
                  <a:cubicBezTo>
                    <a:pt x="3366551" y="1624449"/>
                    <a:pt x="3523325" y="863282"/>
                    <a:pt x="3137507" y="351917"/>
                  </a:cubicBezTo>
                  <a:close/>
                </a:path>
              </a:pathLst>
            </a:custGeom>
            <a:blipFill>
              <a:blip r:embed="rId6"/>
              <a:stretch>
                <a:fillRect l="0" t="-5090" r="0" b="-509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106" y="-6"/>
              <a:ext cx="3362886" cy="4572006"/>
            </a:xfrm>
            <a:custGeom>
              <a:avLst/>
              <a:gdLst/>
              <a:ahLst/>
              <a:cxnLst/>
              <a:rect r="r" b="b" t="t" l="l"/>
              <a:pathLst>
                <a:path h="4572006" w="3362886">
                  <a:moveTo>
                    <a:pt x="3362886" y="4572006"/>
                  </a:moveTo>
                  <a:lnTo>
                    <a:pt x="0" y="4572006"/>
                  </a:lnTo>
                  <a:lnTo>
                    <a:pt x="0" y="0"/>
                  </a:lnTo>
                  <a:lnTo>
                    <a:pt x="3362886" y="0"/>
                  </a:lnTo>
                  <a:lnTo>
                    <a:pt x="3362886" y="4572006"/>
                  </a:lnTo>
                  <a:close/>
                </a:path>
              </a:pathLst>
            </a:custGeom>
            <a:blipFill>
              <a:blip r:embed="rId7"/>
              <a:stretch>
                <a:fillRect l="-48" t="0" r="-48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188772" y="4059443"/>
            <a:ext cx="11442562" cy="2062682"/>
            <a:chOff x="0" y="0"/>
            <a:chExt cx="3013679" cy="5432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13679" cy="543258"/>
            </a:xfrm>
            <a:custGeom>
              <a:avLst/>
              <a:gdLst/>
              <a:ahLst/>
              <a:cxnLst/>
              <a:rect r="r" b="b" t="t" l="l"/>
              <a:pathLst>
                <a:path h="543258" w="3013679">
                  <a:moveTo>
                    <a:pt x="67659" y="0"/>
                  </a:moveTo>
                  <a:lnTo>
                    <a:pt x="2946020" y="0"/>
                  </a:lnTo>
                  <a:cubicBezTo>
                    <a:pt x="2963964" y="0"/>
                    <a:pt x="2981173" y="7128"/>
                    <a:pt x="2993862" y="19817"/>
                  </a:cubicBezTo>
                  <a:cubicBezTo>
                    <a:pt x="3006551" y="32505"/>
                    <a:pt x="3013679" y="49715"/>
                    <a:pt x="3013679" y="67659"/>
                  </a:cubicBezTo>
                  <a:lnTo>
                    <a:pt x="3013679" y="475599"/>
                  </a:lnTo>
                  <a:cubicBezTo>
                    <a:pt x="3013679" y="512966"/>
                    <a:pt x="2983387" y="543258"/>
                    <a:pt x="2946020" y="543258"/>
                  </a:cubicBezTo>
                  <a:lnTo>
                    <a:pt x="67659" y="543258"/>
                  </a:lnTo>
                  <a:cubicBezTo>
                    <a:pt x="30292" y="543258"/>
                    <a:pt x="0" y="512966"/>
                    <a:pt x="0" y="475599"/>
                  </a:cubicBezTo>
                  <a:lnTo>
                    <a:pt x="0" y="67659"/>
                  </a:lnTo>
                  <a:cubicBezTo>
                    <a:pt x="0" y="30292"/>
                    <a:pt x="30292" y="0"/>
                    <a:pt x="67659" y="0"/>
                  </a:cubicBezTo>
                  <a:close/>
                </a:path>
              </a:pathLst>
            </a:custGeom>
            <a:solidFill>
              <a:srgbClr val="82A37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3013679" cy="6004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13399293" y="4360205"/>
            <a:ext cx="0" cy="664741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12767556" y="7436410"/>
            <a:ext cx="1840825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028700" y="329175"/>
            <a:ext cx="3251587" cy="35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FRAD</a:t>
            </a: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AND SPIES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614715" y="419028"/>
            <a:ext cx="852815" cy="207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Product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14603" y="419028"/>
            <a:ext cx="613721" cy="207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547973" y="419028"/>
            <a:ext cx="644279" cy="207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059669" y="419028"/>
            <a:ext cx="791672" cy="207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Service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743869" y="2805984"/>
            <a:ext cx="4107472" cy="98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890894" y="4412540"/>
            <a:ext cx="3796753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 xml:space="preserve"> clases: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110940" y="4412540"/>
            <a:ext cx="3796753" cy="1912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ealthy</a:t>
            </a:r>
          </a:p>
          <a:p>
            <a:pPr algn="ctr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Scab</a:t>
            </a:r>
          </a:p>
          <a:p>
            <a:pPr algn="ctr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Anthracnose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0052091" y="6868085"/>
            <a:ext cx="3482421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 xml:space="preserve">+ 3,983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351577" y="7218886"/>
            <a:ext cx="1907723" cy="424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imágenes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289185">
            <a:off x="13808872" y="-2069558"/>
            <a:ext cx="6860293" cy="7747764"/>
          </a:xfrm>
          <a:custGeom>
            <a:avLst/>
            <a:gdLst/>
            <a:ahLst/>
            <a:cxnLst/>
            <a:rect r="r" b="b" t="t" l="l"/>
            <a:pathLst>
              <a:path h="7747764" w="6860293">
                <a:moveTo>
                  <a:pt x="6860293" y="0"/>
                </a:moveTo>
                <a:lnTo>
                  <a:pt x="0" y="0"/>
                </a:lnTo>
                <a:lnTo>
                  <a:pt x="0" y="7747764"/>
                </a:lnTo>
                <a:lnTo>
                  <a:pt x="6860293" y="7747764"/>
                </a:lnTo>
                <a:lnTo>
                  <a:pt x="686029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9979573" y="4504104"/>
            <a:ext cx="7279727" cy="4028114"/>
            <a:chOff x="0" y="0"/>
            <a:chExt cx="4572000" cy="25298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-1" y="0"/>
              <a:ext cx="4572013" cy="2528399"/>
            </a:xfrm>
            <a:custGeom>
              <a:avLst/>
              <a:gdLst/>
              <a:ahLst/>
              <a:cxnLst/>
              <a:rect r="r" b="b" t="t" l="l"/>
              <a:pathLst>
                <a:path h="2528399" w="4572013">
                  <a:moveTo>
                    <a:pt x="3138947" y="1600998"/>
                  </a:moveTo>
                  <a:cubicBezTo>
                    <a:pt x="2889072" y="1654218"/>
                    <a:pt x="2678341" y="1785111"/>
                    <a:pt x="2450093" y="1892548"/>
                  </a:cubicBezTo>
                  <a:cubicBezTo>
                    <a:pt x="1992010" y="2108172"/>
                    <a:pt x="1500383" y="2337728"/>
                    <a:pt x="1000621" y="2256593"/>
                  </a:cubicBezTo>
                  <a:cubicBezTo>
                    <a:pt x="470771" y="2170574"/>
                    <a:pt x="24898" y="1690501"/>
                    <a:pt x="975" y="1154327"/>
                  </a:cubicBezTo>
                  <a:cubicBezTo>
                    <a:pt x="-22949" y="618155"/>
                    <a:pt x="396260" y="91063"/>
                    <a:pt x="927671" y="15278"/>
                  </a:cubicBezTo>
                  <a:cubicBezTo>
                    <a:pt x="1002929" y="4545"/>
                    <a:pt x="1078975" y="83"/>
                    <a:pt x="1154964" y="1"/>
                  </a:cubicBezTo>
                  <a:cubicBezTo>
                    <a:pt x="1513894" y="-378"/>
                    <a:pt x="1866936" y="91031"/>
                    <a:pt x="2212234" y="179611"/>
                  </a:cubicBezTo>
                  <a:cubicBezTo>
                    <a:pt x="2543929" y="264701"/>
                    <a:pt x="2860273" y="279714"/>
                    <a:pt x="3199537" y="230570"/>
                  </a:cubicBezTo>
                  <a:cubicBezTo>
                    <a:pt x="3447072" y="194714"/>
                    <a:pt x="3720568" y="101429"/>
                    <a:pt x="3971354" y="153685"/>
                  </a:cubicBezTo>
                  <a:cubicBezTo>
                    <a:pt x="4238889" y="209432"/>
                    <a:pt x="4477647" y="416277"/>
                    <a:pt x="4548419" y="683471"/>
                  </a:cubicBezTo>
                  <a:cubicBezTo>
                    <a:pt x="4642522" y="1038742"/>
                    <a:pt x="4448627" y="1431135"/>
                    <a:pt x="4082817" y="1517014"/>
                  </a:cubicBezTo>
                  <a:cubicBezTo>
                    <a:pt x="4044170" y="1526087"/>
                    <a:pt x="4005218" y="1533157"/>
                    <a:pt x="3966032" y="1538715"/>
                  </a:cubicBezTo>
                  <a:cubicBezTo>
                    <a:pt x="3694018" y="1577307"/>
                    <a:pt x="3410682" y="1543121"/>
                    <a:pt x="3138947" y="1600998"/>
                  </a:cubicBezTo>
                  <a:close/>
                  <a:moveTo>
                    <a:pt x="3694670" y="2239103"/>
                  </a:moveTo>
                  <a:cubicBezTo>
                    <a:pt x="3719289" y="2130619"/>
                    <a:pt x="3677180" y="2012151"/>
                    <a:pt x="3588734" y="1939105"/>
                  </a:cubicBezTo>
                  <a:cubicBezTo>
                    <a:pt x="3502237" y="1867667"/>
                    <a:pt x="3382336" y="1842897"/>
                    <a:pt x="3271742" y="1861746"/>
                  </a:cubicBezTo>
                  <a:cubicBezTo>
                    <a:pt x="3161146" y="1880597"/>
                    <a:pt x="3059954" y="1940118"/>
                    <a:pt x="2979775" y="2018579"/>
                  </a:cubicBezTo>
                  <a:cubicBezTo>
                    <a:pt x="2896111" y="2100448"/>
                    <a:pt x="2830938" y="2219381"/>
                    <a:pt x="2863582" y="2331785"/>
                  </a:cubicBezTo>
                  <a:cubicBezTo>
                    <a:pt x="2888753" y="2418455"/>
                    <a:pt x="2968537" y="2481337"/>
                    <a:pt x="3055046" y="2507104"/>
                  </a:cubicBezTo>
                  <a:cubicBezTo>
                    <a:pt x="3249342" y="2564973"/>
                    <a:pt x="3546347" y="2505295"/>
                    <a:pt x="3660039" y="2323213"/>
                  </a:cubicBezTo>
                  <a:cubicBezTo>
                    <a:pt x="3676651" y="2296609"/>
                    <a:pt x="3688063" y="2268216"/>
                    <a:pt x="3694670" y="2239103"/>
                  </a:cubicBezTo>
                  <a:close/>
                </a:path>
              </a:pathLst>
            </a:custGeom>
            <a:blipFill>
              <a:blip r:embed="rId4"/>
              <a:stretch>
                <a:fillRect l="0" t="-122692" r="0" b="-48301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720"/>
              <a:ext cx="4572000" cy="2528399"/>
            </a:xfrm>
            <a:custGeom>
              <a:avLst/>
              <a:gdLst/>
              <a:ahLst/>
              <a:cxnLst/>
              <a:rect r="r" b="b" t="t" l="l"/>
              <a:pathLst>
                <a:path h="2528399" w="4572000">
                  <a:moveTo>
                    <a:pt x="4572000" y="2528399"/>
                  </a:moveTo>
                  <a:lnTo>
                    <a:pt x="0" y="2528399"/>
                  </a:lnTo>
                  <a:lnTo>
                    <a:pt x="0" y="0"/>
                  </a:lnTo>
                  <a:lnTo>
                    <a:pt x="4572000" y="0"/>
                  </a:lnTo>
                  <a:lnTo>
                    <a:pt x="4572000" y="2528399"/>
                  </a:lnTo>
                  <a:close/>
                </a:path>
              </a:pathLst>
            </a:custGeom>
            <a:blipFill>
              <a:blip r:embed="rId5"/>
              <a:stretch>
                <a:fillRect l="0" t="-66" r="0" b="-66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5454211" y="5555711"/>
            <a:ext cx="4243875" cy="6723942"/>
            <a:chOff x="0" y="0"/>
            <a:chExt cx="2889504" cy="45780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89504" cy="4578095"/>
            </a:xfrm>
            <a:custGeom>
              <a:avLst/>
              <a:gdLst/>
              <a:ahLst/>
              <a:cxnLst/>
              <a:rect r="r" b="b" t="t" l="l"/>
              <a:pathLst>
                <a:path h="4578095" w="2889504">
                  <a:moveTo>
                    <a:pt x="2889504" y="4578095"/>
                  </a:moveTo>
                  <a:lnTo>
                    <a:pt x="0" y="4578095"/>
                  </a:lnTo>
                  <a:lnTo>
                    <a:pt x="0" y="0"/>
                  </a:lnTo>
                  <a:lnTo>
                    <a:pt x="2889504" y="0"/>
                  </a:lnTo>
                  <a:lnTo>
                    <a:pt x="2889504" y="4578095"/>
                  </a:lnTo>
                  <a:close/>
                </a:path>
              </a:pathLst>
            </a:custGeom>
            <a:blipFill>
              <a:blip r:embed="rId6"/>
              <a:stretch>
                <a:fillRect l="-7" t="0" r="-7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85405" y="54868"/>
              <a:ext cx="2724866" cy="4413494"/>
            </a:xfrm>
            <a:custGeom>
              <a:avLst/>
              <a:gdLst/>
              <a:ahLst/>
              <a:cxnLst/>
              <a:rect r="r" b="b" t="t" l="l"/>
              <a:pathLst>
                <a:path h="4413494" w="2724866">
                  <a:moveTo>
                    <a:pt x="2633412" y="1339376"/>
                  </a:moveTo>
                  <a:cubicBezTo>
                    <a:pt x="2620583" y="1257398"/>
                    <a:pt x="2605975" y="1175958"/>
                    <a:pt x="2589328" y="1095274"/>
                  </a:cubicBezTo>
                  <a:cubicBezTo>
                    <a:pt x="2517963" y="749408"/>
                    <a:pt x="2344599" y="409252"/>
                    <a:pt x="2039865" y="215523"/>
                  </a:cubicBezTo>
                  <a:cubicBezTo>
                    <a:pt x="1632956" y="-43162"/>
                    <a:pt x="1067916" y="-63207"/>
                    <a:pt x="615193" y="124410"/>
                  </a:cubicBezTo>
                  <a:cubicBezTo>
                    <a:pt x="414880" y="207424"/>
                    <a:pt x="227067" y="335211"/>
                    <a:pt x="135717" y="515451"/>
                  </a:cubicBezTo>
                  <a:cubicBezTo>
                    <a:pt x="9150" y="765177"/>
                    <a:pt x="90910" y="1058422"/>
                    <a:pt x="204347" y="1313177"/>
                  </a:cubicBezTo>
                  <a:cubicBezTo>
                    <a:pt x="317784" y="1567934"/>
                    <a:pt x="463831" y="1822480"/>
                    <a:pt x="462474" y="2096822"/>
                  </a:cubicBezTo>
                  <a:cubicBezTo>
                    <a:pt x="460097" y="2577977"/>
                    <a:pt x="6967" y="2986016"/>
                    <a:pt x="72" y="3467136"/>
                  </a:cubicBezTo>
                  <a:cubicBezTo>
                    <a:pt x="-5443" y="3852137"/>
                    <a:pt x="303567" y="4212492"/>
                    <a:pt x="705612" y="4346916"/>
                  </a:cubicBezTo>
                  <a:cubicBezTo>
                    <a:pt x="1184532" y="4507042"/>
                    <a:pt x="1725426" y="4364404"/>
                    <a:pt x="2098435" y="4067873"/>
                  </a:cubicBezTo>
                  <a:cubicBezTo>
                    <a:pt x="2321372" y="3890645"/>
                    <a:pt x="2521294" y="3676685"/>
                    <a:pt x="2612072" y="3403424"/>
                  </a:cubicBezTo>
                  <a:cubicBezTo>
                    <a:pt x="2706719" y="3118520"/>
                    <a:pt x="2730547" y="2814552"/>
                    <a:pt x="2723797" y="2515980"/>
                  </a:cubicBezTo>
                  <a:cubicBezTo>
                    <a:pt x="2714914" y="2123068"/>
                    <a:pt x="2694241" y="1728060"/>
                    <a:pt x="2633412" y="1339376"/>
                  </a:cubicBezTo>
                  <a:close/>
                </a:path>
              </a:pathLst>
            </a:custGeom>
            <a:blipFill>
              <a:blip r:embed="rId7"/>
              <a:stretch>
                <a:fillRect l="-3855" t="0" r="-3855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8700" y="329175"/>
            <a:ext cx="3251587" cy="35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FRAD</a:t>
            </a: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AND SPIES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614715" y="419028"/>
            <a:ext cx="852815" cy="207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Product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14603" y="419028"/>
            <a:ext cx="613721" cy="207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580266" y="419028"/>
            <a:ext cx="644279" cy="207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059669" y="419028"/>
            <a:ext cx="791672" cy="207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Service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84715" y="1455038"/>
            <a:ext cx="16233663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 Augmentation y Generadores (224x224)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3168227"/>
            <a:ext cx="4139761" cy="2862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7190" indent="-353595" lvl="1">
              <a:lnSpc>
                <a:spcPts val="4585"/>
              </a:lnSpc>
              <a:buFont typeface="Arial"/>
              <a:buChar char="•"/>
            </a:pPr>
            <a:r>
              <a:rPr lang="en-US" sz="32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32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otaciones</a:t>
            </a:r>
          </a:p>
          <a:p>
            <a:pPr algn="l" marL="707190" indent="-353595" lvl="1">
              <a:lnSpc>
                <a:spcPts val="4585"/>
              </a:lnSpc>
              <a:buFont typeface="Arial"/>
              <a:buChar char="•"/>
            </a:pPr>
            <a:r>
              <a:rPr lang="en-US" sz="32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Zoom</a:t>
            </a:r>
          </a:p>
          <a:p>
            <a:pPr algn="l" marL="707190" indent="-353595" lvl="1">
              <a:lnSpc>
                <a:spcPts val="4585"/>
              </a:lnSpc>
              <a:buFont typeface="Arial"/>
              <a:buChar char="•"/>
            </a:pPr>
            <a:r>
              <a:rPr lang="en-US" sz="32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Volteos</a:t>
            </a:r>
          </a:p>
          <a:p>
            <a:pPr algn="l" marL="707190" indent="-353595" lvl="1">
              <a:lnSpc>
                <a:spcPts val="4585"/>
              </a:lnSpc>
              <a:buFont typeface="Arial"/>
              <a:buChar char="•"/>
            </a:pPr>
            <a:r>
              <a:rPr lang="en-US" sz="32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Variaciones artificiales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944369" y="3063317"/>
            <a:ext cx="6256994" cy="1690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224x224</a:t>
            </a: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 xml:space="preserve"> píxeles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Compatible con VGG16</a:t>
            </a:r>
          </a:p>
          <a:p>
            <a:pPr algn="l">
              <a:lnSpc>
                <a:spcPts val="448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51196" y="4455768"/>
            <a:ext cx="261656" cy="3286930"/>
            <a:chOff x="0" y="0"/>
            <a:chExt cx="68914" cy="8656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8914" cy="865693"/>
            </a:xfrm>
            <a:custGeom>
              <a:avLst/>
              <a:gdLst/>
              <a:ahLst/>
              <a:cxnLst/>
              <a:rect r="r" b="b" t="t" l="l"/>
              <a:pathLst>
                <a:path h="865693" w="68914">
                  <a:moveTo>
                    <a:pt x="34457" y="0"/>
                  </a:moveTo>
                  <a:lnTo>
                    <a:pt x="34457" y="0"/>
                  </a:lnTo>
                  <a:cubicBezTo>
                    <a:pt x="53487" y="0"/>
                    <a:pt x="68914" y="15427"/>
                    <a:pt x="68914" y="34457"/>
                  </a:cubicBezTo>
                  <a:lnTo>
                    <a:pt x="68914" y="831237"/>
                  </a:lnTo>
                  <a:cubicBezTo>
                    <a:pt x="68914" y="840375"/>
                    <a:pt x="65283" y="849139"/>
                    <a:pt x="58821" y="855601"/>
                  </a:cubicBezTo>
                  <a:cubicBezTo>
                    <a:pt x="52360" y="862063"/>
                    <a:pt x="43595" y="865693"/>
                    <a:pt x="34457" y="865693"/>
                  </a:cubicBezTo>
                  <a:lnTo>
                    <a:pt x="34457" y="865693"/>
                  </a:lnTo>
                  <a:cubicBezTo>
                    <a:pt x="25318" y="865693"/>
                    <a:pt x="16554" y="862063"/>
                    <a:pt x="10092" y="855601"/>
                  </a:cubicBezTo>
                  <a:cubicBezTo>
                    <a:pt x="3630" y="849139"/>
                    <a:pt x="0" y="840375"/>
                    <a:pt x="0" y="831237"/>
                  </a:cubicBezTo>
                  <a:lnTo>
                    <a:pt x="0" y="34457"/>
                  </a:lnTo>
                  <a:cubicBezTo>
                    <a:pt x="0" y="25318"/>
                    <a:pt x="3630" y="16554"/>
                    <a:pt x="10092" y="10092"/>
                  </a:cubicBezTo>
                  <a:cubicBezTo>
                    <a:pt x="16554" y="3630"/>
                    <a:pt x="25318" y="0"/>
                    <a:pt x="34457" y="0"/>
                  </a:cubicBezTo>
                  <a:close/>
                </a:path>
              </a:pathLst>
            </a:custGeom>
            <a:solidFill>
              <a:srgbClr val="F6C83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68914" cy="9228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991701" y="902255"/>
            <a:ext cx="8645005" cy="5480016"/>
          </a:xfrm>
          <a:custGeom>
            <a:avLst/>
            <a:gdLst/>
            <a:ahLst/>
            <a:cxnLst/>
            <a:rect r="r" b="b" t="t" l="l"/>
            <a:pathLst>
              <a:path h="5480016" w="8645005">
                <a:moveTo>
                  <a:pt x="0" y="0"/>
                </a:moveTo>
                <a:lnTo>
                  <a:pt x="8645005" y="0"/>
                </a:lnTo>
                <a:lnTo>
                  <a:pt x="8645005" y="5480016"/>
                </a:lnTo>
                <a:lnTo>
                  <a:pt x="0" y="54800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7000980" y="1673627"/>
            <a:ext cx="5007577" cy="6939747"/>
            <a:chOff x="0" y="0"/>
            <a:chExt cx="3230879" cy="44775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30879" cy="4477511"/>
            </a:xfrm>
            <a:custGeom>
              <a:avLst/>
              <a:gdLst/>
              <a:ahLst/>
              <a:cxnLst/>
              <a:rect r="r" b="b" t="t" l="l"/>
              <a:pathLst>
                <a:path h="4477511" w="3230879">
                  <a:moveTo>
                    <a:pt x="3230879" y="4477511"/>
                  </a:moveTo>
                  <a:lnTo>
                    <a:pt x="0" y="4477511"/>
                  </a:lnTo>
                  <a:lnTo>
                    <a:pt x="0" y="0"/>
                  </a:lnTo>
                  <a:lnTo>
                    <a:pt x="3230879" y="0"/>
                  </a:lnTo>
                  <a:lnTo>
                    <a:pt x="3230879" y="4477511"/>
                  </a:lnTo>
                  <a:close/>
                </a:path>
              </a:pathLst>
            </a:custGeom>
            <a:blipFill>
              <a:blip r:embed="rId4"/>
              <a:stretch>
                <a:fillRect l="0" t="-22" r="0" b="-22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86649" y="56128"/>
              <a:ext cx="3064345" cy="4311955"/>
            </a:xfrm>
            <a:custGeom>
              <a:avLst/>
              <a:gdLst/>
              <a:ahLst/>
              <a:cxnLst/>
              <a:rect r="r" b="b" t="t" l="l"/>
              <a:pathLst>
                <a:path h="4311955" w="3064345">
                  <a:moveTo>
                    <a:pt x="2179722" y="3144562"/>
                  </a:moveTo>
                  <a:cubicBezTo>
                    <a:pt x="2161971" y="3060867"/>
                    <a:pt x="2153945" y="2976989"/>
                    <a:pt x="2169860" y="2892218"/>
                  </a:cubicBezTo>
                  <a:cubicBezTo>
                    <a:pt x="2219539" y="2627600"/>
                    <a:pt x="2514392" y="2460597"/>
                    <a:pt x="2686456" y="2282682"/>
                  </a:cubicBezTo>
                  <a:cubicBezTo>
                    <a:pt x="2988245" y="1970636"/>
                    <a:pt x="3124481" y="1506857"/>
                    <a:pt x="3039406" y="1081166"/>
                  </a:cubicBezTo>
                  <a:cubicBezTo>
                    <a:pt x="2954332" y="655473"/>
                    <a:pt x="2650308" y="279683"/>
                    <a:pt x="2251766" y="107599"/>
                  </a:cubicBezTo>
                  <a:cubicBezTo>
                    <a:pt x="1853224" y="-64483"/>
                    <a:pt x="1371227" y="-28084"/>
                    <a:pt x="1003049" y="201902"/>
                  </a:cubicBezTo>
                  <a:cubicBezTo>
                    <a:pt x="672053" y="408663"/>
                    <a:pt x="444620" y="752118"/>
                    <a:pt x="306720" y="1117212"/>
                  </a:cubicBezTo>
                  <a:cubicBezTo>
                    <a:pt x="168819" y="1482307"/>
                    <a:pt x="111896" y="1872098"/>
                    <a:pt x="55873" y="2258326"/>
                  </a:cubicBezTo>
                  <a:cubicBezTo>
                    <a:pt x="-1154" y="2651465"/>
                    <a:pt x="-54762" y="3070604"/>
                    <a:pt x="111894" y="3431207"/>
                  </a:cubicBezTo>
                  <a:cubicBezTo>
                    <a:pt x="306483" y="3852251"/>
                    <a:pt x="757050" y="4092726"/>
                    <a:pt x="1199356" y="4232388"/>
                  </a:cubicBezTo>
                  <a:cubicBezTo>
                    <a:pt x="1418317" y="4301527"/>
                    <a:pt x="1660109" y="4352511"/>
                    <a:pt x="1873370" y="4267398"/>
                  </a:cubicBezTo>
                  <a:cubicBezTo>
                    <a:pt x="2074533" y="4187112"/>
                    <a:pt x="2216098" y="3993277"/>
                    <a:pt x="2271963" y="3783999"/>
                  </a:cubicBezTo>
                  <a:cubicBezTo>
                    <a:pt x="2330558" y="3564473"/>
                    <a:pt x="2224375" y="3355097"/>
                    <a:pt x="2179722" y="3144562"/>
                  </a:cubicBezTo>
                  <a:close/>
                </a:path>
              </a:pathLst>
            </a:custGeom>
            <a:blipFill>
              <a:blip r:embed="rId5"/>
              <a:stretch>
                <a:fillRect l="0" t="-461" r="0" b="-461"/>
              </a:stretch>
            </a:blip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1481703" y="2501275"/>
            <a:ext cx="5777597" cy="5561325"/>
            <a:chOff x="0" y="0"/>
            <a:chExt cx="4559807" cy="43891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559807" cy="4389120"/>
            </a:xfrm>
            <a:custGeom>
              <a:avLst/>
              <a:gdLst/>
              <a:ahLst/>
              <a:cxnLst/>
              <a:rect r="r" b="b" t="t" l="l"/>
              <a:pathLst>
                <a:path h="4389120" w="4559807">
                  <a:moveTo>
                    <a:pt x="4559807" y="4389120"/>
                  </a:moveTo>
                  <a:lnTo>
                    <a:pt x="0" y="4389120"/>
                  </a:lnTo>
                  <a:lnTo>
                    <a:pt x="0" y="0"/>
                  </a:lnTo>
                  <a:lnTo>
                    <a:pt x="4559807" y="0"/>
                  </a:lnTo>
                  <a:lnTo>
                    <a:pt x="4559807" y="4389120"/>
                  </a:lnTo>
                  <a:close/>
                </a:path>
              </a:pathLst>
            </a:custGeom>
            <a:blipFill>
              <a:blip r:embed="rId6"/>
              <a:stretch>
                <a:fillRect l="-3" t="0" r="-3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87088" y="56419"/>
              <a:ext cx="4391744" cy="4222170"/>
            </a:xfrm>
            <a:custGeom>
              <a:avLst/>
              <a:gdLst/>
              <a:ahLst/>
              <a:cxnLst/>
              <a:rect r="r" b="b" t="t" l="l"/>
              <a:pathLst>
                <a:path h="4222170" w="4391744">
                  <a:moveTo>
                    <a:pt x="2923232" y="3987550"/>
                  </a:moveTo>
                  <a:cubicBezTo>
                    <a:pt x="3145283" y="4114241"/>
                    <a:pt x="3363141" y="4250674"/>
                    <a:pt x="3634023" y="4216974"/>
                  </a:cubicBezTo>
                  <a:cubicBezTo>
                    <a:pt x="3888511" y="4185310"/>
                    <a:pt x="4125043" y="4031628"/>
                    <a:pt x="4257386" y="3811957"/>
                  </a:cubicBezTo>
                  <a:cubicBezTo>
                    <a:pt x="4450350" y="3491661"/>
                    <a:pt x="4411818" y="3080130"/>
                    <a:pt x="4289972" y="2726606"/>
                  </a:cubicBezTo>
                  <a:cubicBezTo>
                    <a:pt x="4168126" y="2373081"/>
                    <a:pt x="3971509" y="2048541"/>
                    <a:pt x="3855317" y="1693118"/>
                  </a:cubicBezTo>
                  <a:cubicBezTo>
                    <a:pt x="3720100" y="1279497"/>
                    <a:pt x="3690174" y="817859"/>
                    <a:pt x="3434825" y="465498"/>
                  </a:cubicBezTo>
                  <a:cubicBezTo>
                    <a:pt x="3228571" y="180881"/>
                    <a:pt x="2882759" y="2733"/>
                    <a:pt x="2531285" y="31"/>
                  </a:cubicBezTo>
                  <a:cubicBezTo>
                    <a:pt x="2179812" y="-2671"/>
                    <a:pt x="1831301" y="170140"/>
                    <a:pt x="1620696" y="451552"/>
                  </a:cubicBezTo>
                  <a:cubicBezTo>
                    <a:pt x="1322745" y="849675"/>
                    <a:pt x="1311969" y="1406280"/>
                    <a:pt x="1022002" y="1810255"/>
                  </a:cubicBezTo>
                  <a:cubicBezTo>
                    <a:pt x="738144" y="2205719"/>
                    <a:pt x="211870" y="2419245"/>
                    <a:pt x="44294" y="2876290"/>
                  </a:cubicBezTo>
                  <a:cubicBezTo>
                    <a:pt x="-102338" y="3276207"/>
                    <a:pt x="129292" y="3773553"/>
                    <a:pt x="529755" y="3918649"/>
                  </a:cubicBezTo>
                  <a:cubicBezTo>
                    <a:pt x="883513" y="4046824"/>
                    <a:pt x="1271607" y="3918282"/>
                    <a:pt x="1634500" y="3818863"/>
                  </a:cubicBezTo>
                  <a:cubicBezTo>
                    <a:pt x="1864205" y="3755932"/>
                    <a:pt x="2114367" y="3750384"/>
                    <a:pt x="2349843" y="3777473"/>
                  </a:cubicBezTo>
                  <a:cubicBezTo>
                    <a:pt x="2512623" y="3796200"/>
                    <a:pt x="2669828" y="3851000"/>
                    <a:pt x="2814254" y="3927253"/>
                  </a:cubicBezTo>
                  <a:cubicBezTo>
                    <a:pt x="2850855" y="3946578"/>
                    <a:pt x="2887099" y="3966935"/>
                    <a:pt x="2923232" y="3987550"/>
                  </a:cubicBezTo>
                  <a:close/>
                </a:path>
              </a:pathLst>
            </a:custGeom>
            <a:blipFill>
              <a:blip r:embed="rId7"/>
              <a:stretch>
                <a:fillRect l="0" t="-54267" r="0" b="-161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962277" y="8031143"/>
            <a:ext cx="2585696" cy="268094"/>
            <a:chOff x="0" y="0"/>
            <a:chExt cx="681006" cy="7060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1006" cy="70609"/>
            </a:xfrm>
            <a:custGeom>
              <a:avLst/>
              <a:gdLst/>
              <a:ahLst/>
              <a:cxnLst/>
              <a:rect r="r" b="b" t="t" l="l"/>
              <a:pathLst>
                <a:path h="70609" w="681006">
                  <a:moveTo>
                    <a:pt x="35305" y="0"/>
                  </a:moveTo>
                  <a:lnTo>
                    <a:pt x="645702" y="0"/>
                  </a:lnTo>
                  <a:cubicBezTo>
                    <a:pt x="665200" y="0"/>
                    <a:pt x="681006" y="15806"/>
                    <a:pt x="681006" y="35305"/>
                  </a:cubicBezTo>
                  <a:lnTo>
                    <a:pt x="681006" y="35305"/>
                  </a:lnTo>
                  <a:cubicBezTo>
                    <a:pt x="681006" y="44668"/>
                    <a:pt x="677287" y="53648"/>
                    <a:pt x="670666" y="60269"/>
                  </a:cubicBezTo>
                  <a:cubicBezTo>
                    <a:pt x="664045" y="66889"/>
                    <a:pt x="655065" y="70609"/>
                    <a:pt x="645702" y="70609"/>
                  </a:cubicBezTo>
                  <a:lnTo>
                    <a:pt x="35305" y="70609"/>
                  </a:lnTo>
                  <a:cubicBezTo>
                    <a:pt x="25941" y="70609"/>
                    <a:pt x="16961" y="66889"/>
                    <a:pt x="10340" y="60269"/>
                  </a:cubicBezTo>
                  <a:cubicBezTo>
                    <a:pt x="3720" y="53648"/>
                    <a:pt x="0" y="44668"/>
                    <a:pt x="0" y="35305"/>
                  </a:cubicBezTo>
                  <a:lnTo>
                    <a:pt x="0" y="35305"/>
                  </a:lnTo>
                  <a:cubicBezTo>
                    <a:pt x="0" y="25941"/>
                    <a:pt x="3720" y="16961"/>
                    <a:pt x="10340" y="10340"/>
                  </a:cubicBezTo>
                  <a:cubicBezTo>
                    <a:pt x="16961" y="3720"/>
                    <a:pt x="25941" y="0"/>
                    <a:pt x="35305" y="0"/>
                  </a:cubicBezTo>
                  <a:close/>
                </a:path>
              </a:pathLst>
            </a:custGeom>
            <a:solidFill>
              <a:srgbClr val="F6C83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681006" cy="127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28700" y="329175"/>
            <a:ext cx="3251587" cy="35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FRAD</a:t>
            </a: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AND SPIES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614715" y="419028"/>
            <a:ext cx="852815" cy="207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Product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14603" y="419028"/>
            <a:ext cx="613721" cy="207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547973" y="419028"/>
            <a:ext cx="644279" cy="207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059669" y="419028"/>
            <a:ext cx="791672" cy="207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Service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3368" y="1673627"/>
            <a:ext cx="6613838" cy="2414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Arquitectura CNN con Transfer Learning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89071" y="4400000"/>
            <a:ext cx="6200000" cy="28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7543" indent="-318772" lvl="1">
              <a:lnSpc>
                <a:spcPts val="3543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VGG16 preentrenado (ImageNet, congelado)</a:t>
            </a:r>
          </a:p>
          <a:p>
            <a:pPr algn="l" marL="637543" indent="-318772" lvl="1">
              <a:lnSpc>
                <a:spcPts val="3543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GlobalAveragePooling2D</a:t>
            </a:r>
          </a:p>
          <a:p>
            <a:pPr algn="l" marL="637543" indent="-318772" lvl="1">
              <a:lnSpc>
                <a:spcPts val="3543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BatchNormalization</a:t>
            </a:r>
          </a:p>
          <a:p>
            <a:pPr algn="l" marL="637543" indent="-318772" lvl="1">
              <a:lnSpc>
                <a:spcPts val="3543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Dense 512 — ReLU + L2</a:t>
            </a:r>
          </a:p>
          <a:p>
            <a:pPr algn="l" marL="637543" indent="-318772" lvl="1">
              <a:lnSpc>
                <a:spcPts val="3543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Dropout 0.5</a:t>
            </a:r>
          </a:p>
          <a:p>
            <a:pPr algn="l" marL="637543" indent="-318772" lvl="1">
              <a:lnSpc>
                <a:spcPts val="3543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Dense 256 — ReLU + L2</a:t>
            </a:r>
          </a:p>
          <a:p>
            <a:pPr algn="l" marL="637543" indent="-318772" lvl="1">
              <a:lnSpc>
                <a:spcPts val="3543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Dropout 0.3</a:t>
            </a:r>
          </a:p>
          <a:p>
            <a:pPr algn="l" marL="637543" indent="-318772" lvl="1">
              <a:lnSpc>
                <a:spcPts val="3543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Dense 3 — Softmax (Healthy / Scab / Anthracnose)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517062">
            <a:off x="-1766831" y="-2866773"/>
            <a:ext cx="6295223" cy="7109595"/>
          </a:xfrm>
          <a:custGeom>
            <a:avLst/>
            <a:gdLst/>
            <a:ahLst/>
            <a:cxnLst/>
            <a:rect r="r" b="b" t="t" l="l"/>
            <a:pathLst>
              <a:path h="7109595" w="6295223">
                <a:moveTo>
                  <a:pt x="0" y="0"/>
                </a:moveTo>
                <a:lnTo>
                  <a:pt x="6295223" y="0"/>
                </a:lnTo>
                <a:lnTo>
                  <a:pt x="6295223" y="7109595"/>
                </a:lnTo>
                <a:lnTo>
                  <a:pt x="0" y="71095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1880074" y="-794547"/>
            <a:ext cx="8586414" cy="4751147"/>
            <a:chOff x="0" y="0"/>
            <a:chExt cx="4572000" cy="25298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-1" y="0"/>
              <a:ext cx="4572013" cy="2528399"/>
            </a:xfrm>
            <a:custGeom>
              <a:avLst/>
              <a:gdLst/>
              <a:ahLst/>
              <a:cxnLst/>
              <a:rect r="r" b="b" t="t" l="l"/>
              <a:pathLst>
                <a:path h="2528399" w="4572013">
                  <a:moveTo>
                    <a:pt x="3138947" y="1600998"/>
                  </a:moveTo>
                  <a:cubicBezTo>
                    <a:pt x="2889072" y="1654218"/>
                    <a:pt x="2678341" y="1785111"/>
                    <a:pt x="2450093" y="1892548"/>
                  </a:cubicBezTo>
                  <a:cubicBezTo>
                    <a:pt x="1992010" y="2108172"/>
                    <a:pt x="1500383" y="2337728"/>
                    <a:pt x="1000621" y="2256593"/>
                  </a:cubicBezTo>
                  <a:cubicBezTo>
                    <a:pt x="470771" y="2170574"/>
                    <a:pt x="24898" y="1690501"/>
                    <a:pt x="975" y="1154327"/>
                  </a:cubicBezTo>
                  <a:cubicBezTo>
                    <a:pt x="-22949" y="618155"/>
                    <a:pt x="396260" y="91063"/>
                    <a:pt x="927671" y="15278"/>
                  </a:cubicBezTo>
                  <a:cubicBezTo>
                    <a:pt x="1002929" y="4545"/>
                    <a:pt x="1078975" y="83"/>
                    <a:pt x="1154964" y="1"/>
                  </a:cubicBezTo>
                  <a:cubicBezTo>
                    <a:pt x="1513894" y="-378"/>
                    <a:pt x="1866936" y="91031"/>
                    <a:pt x="2212234" y="179611"/>
                  </a:cubicBezTo>
                  <a:cubicBezTo>
                    <a:pt x="2543929" y="264701"/>
                    <a:pt x="2860273" y="279714"/>
                    <a:pt x="3199537" y="230570"/>
                  </a:cubicBezTo>
                  <a:cubicBezTo>
                    <a:pt x="3447072" y="194714"/>
                    <a:pt x="3720568" y="101429"/>
                    <a:pt x="3971354" y="153685"/>
                  </a:cubicBezTo>
                  <a:cubicBezTo>
                    <a:pt x="4238889" y="209432"/>
                    <a:pt x="4477647" y="416277"/>
                    <a:pt x="4548419" y="683471"/>
                  </a:cubicBezTo>
                  <a:cubicBezTo>
                    <a:pt x="4642522" y="1038742"/>
                    <a:pt x="4448627" y="1431135"/>
                    <a:pt x="4082817" y="1517014"/>
                  </a:cubicBezTo>
                  <a:cubicBezTo>
                    <a:pt x="4044170" y="1526087"/>
                    <a:pt x="4005218" y="1533157"/>
                    <a:pt x="3966032" y="1538715"/>
                  </a:cubicBezTo>
                  <a:cubicBezTo>
                    <a:pt x="3694018" y="1577307"/>
                    <a:pt x="3410682" y="1543121"/>
                    <a:pt x="3138947" y="1600998"/>
                  </a:cubicBezTo>
                  <a:close/>
                  <a:moveTo>
                    <a:pt x="3694670" y="2239103"/>
                  </a:moveTo>
                  <a:cubicBezTo>
                    <a:pt x="3719289" y="2130619"/>
                    <a:pt x="3677180" y="2012151"/>
                    <a:pt x="3588734" y="1939105"/>
                  </a:cubicBezTo>
                  <a:cubicBezTo>
                    <a:pt x="3502237" y="1867667"/>
                    <a:pt x="3382336" y="1842897"/>
                    <a:pt x="3271742" y="1861746"/>
                  </a:cubicBezTo>
                  <a:cubicBezTo>
                    <a:pt x="3161146" y="1880597"/>
                    <a:pt x="3059954" y="1940118"/>
                    <a:pt x="2979775" y="2018579"/>
                  </a:cubicBezTo>
                  <a:cubicBezTo>
                    <a:pt x="2896111" y="2100448"/>
                    <a:pt x="2830938" y="2219381"/>
                    <a:pt x="2863582" y="2331785"/>
                  </a:cubicBezTo>
                  <a:cubicBezTo>
                    <a:pt x="2888753" y="2418455"/>
                    <a:pt x="2968537" y="2481337"/>
                    <a:pt x="3055046" y="2507104"/>
                  </a:cubicBezTo>
                  <a:cubicBezTo>
                    <a:pt x="3249342" y="2564973"/>
                    <a:pt x="3546347" y="2505295"/>
                    <a:pt x="3660039" y="2323213"/>
                  </a:cubicBezTo>
                  <a:cubicBezTo>
                    <a:pt x="3676651" y="2296609"/>
                    <a:pt x="3688063" y="2268216"/>
                    <a:pt x="3694670" y="2239103"/>
                  </a:cubicBezTo>
                  <a:close/>
                </a:path>
              </a:pathLst>
            </a:custGeom>
            <a:blipFill>
              <a:blip r:embed="rId4"/>
              <a:stretch>
                <a:fillRect l="0" t="-20475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720"/>
              <a:ext cx="4572000" cy="2528399"/>
            </a:xfrm>
            <a:custGeom>
              <a:avLst/>
              <a:gdLst/>
              <a:ahLst/>
              <a:cxnLst/>
              <a:rect r="r" b="b" t="t" l="l"/>
              <a:pathLst>
                <a:path h="2528399" w="4572000">
                  <a:moveTo>
                    <a:pt x="4572000" y="2528399"/>
                  </a:moveTo>
                  <a:lnTo>
                    <a:pt x="0" y="2528399"/>
                  </a:lnTo>
                  <a:lnTo>
                    <a:pt x="0" y="0"/>
                  </a:lnTo>
                  <a:lnTo>
                    <a:pt x="4572000" y="0"/>
                  </a:lnTo>
                  <a:lnTo>
                    <a:pt x="4572000" y="2528399"/>
                  </a:lnTo>
                  <a:close/>
                </a:path>
              </a:pathLst>
            </a:custGeom>
            <a:blipFill>
              <a:blip r:embed="rId5"/>
              <a:stretch>
                <a:fillRect l="0" t="-66" r="0" b="-6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146230" y="6104570"/>
            <a:ext cx="191973" cy="19197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C83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741509" y="6131274"/>
            <a:ext cx="138565" cy="13856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C83F">
                <a:alpha val="49804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283380" y="6131274"/>
            <a:ext cx="138565" cy="138565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C83F">
                <a:alpha val="49804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825251" y="6131274"/>
            <a:ext cx="138565" cy="138565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C83F">
                <a:alpha val="49804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0" y="4167315"/>
            <a:ext cx="18415859" cy="6119685"/>
          </a:xfrm>
          <a:custGeom>
            <a:avLst/>
            <a:gdLst/>
            <a:ahLst/>
            <a:cxnLst/>
            <a:rect r="r" b="b" t="t" l="l"/>
            <a:pathLst>
              <a:path h="6119685" w="18415859">
                <a:moveTo>
                  <a:pt x="0" y="0"/>
                </a:moveTo>
                <a:lnTo>
                  <a:pt x="18415859" y="0"/>
                </a:lnTo>
                <a:lnTo>
                  <a:pt x="18415859" y="6119685"/>
                </a:lnTo>
                <a:lnTo>
                  <a:pt x="0" y="61196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33" t="0" r="-733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28700" y="329175"/>
            <a:ext cx="3251587" cy="35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FRADEL AND SPIES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614715" y="419028"/>
            <a:ext cx="852815" cy="207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Product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14603" y="419028"/>
            <a:ext cx="613721" cy="207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547973" y="419028"/>
            <a:ext cx="644279" cy="207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059669" y="419028"/>
            <a:ext cx="791672" cy="207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Service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75000" y="670278"/>
            <a:ext cx="8908750" cy="14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60"/>
              </a:lnSpc>
            </a:pPr>
            <a:r>
              <a:rPr lang="en-US" sz="9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Resultados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75000" y="2059023"/>
            <a:ext cx="3911067" cy="168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ccuracy: 91.7%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Anthracnose: 92.9%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Healthy: 87.5%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Scab: 96.6%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790815" y="4673727"/>
            <a:ext cx="4823901" cy="35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spc="8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FRADEL AND SPIES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DAHK4sDJBwA</dc:identifier>
  <dcterms:modified xsi:type="dcterms:W3CDTF">2011-08-01T06:04:30Z</dcterms:modified>
  <cp:revision>1</cp:revision>
  <dc:title>Presentation Clasificacion de Enfermedades en el Aguacate RNC</dc:title>
</cp:coreProperties>
</file>